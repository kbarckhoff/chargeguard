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F8AB1-F0FF-4DFA-B21A-4EC8DA5B0BA2}" v="3" dt="2026-08-27T19:02:55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ee rae" userId="1b29ab7783d1feb9" providerId="LiveId" clId="{B162316B-4286-42E8-BCBA-F94E5F1F9DA1}"/>
    <pc:docChg chg="undo redo custSel addSld delSld modSld sldOrd">
      <pc:chgData name="kaylee rae" userId="1b29ab7783d1feb9" providerId="LiveId" clId="{B162316B-4286-42E8-BCBA-F94E5F1F9DA1}" dt="2026-08-27T19:04:41.371" v="53" actId="47"/>
      <pc:docMkLst>
        <pc:docMk/>
      </pc:docMkLst>
      <pc:sldChg chg="modSp mod">
        <pc:chgData name="kaylee rae" userId="1b29ab7783d1feb9" providerId="LiveId" clId="{B162316B-4286-42E8-BCBA-F94E5F1F9DA1}" dt="2026-08-27T18:54:01.203" v="10" actId="20577"/>
        <pc:sldMkLst>
          <pc:docMk/>
          <pc:sldMk cId="0" sldId="257"/>
        </pc:sldMkLst>
        <pc:spChg chg="mod">
          <ac:chgData name="kaylee rae" userId="1b29ab7783d1feb9" providerId="LiveId" clId="{B162316B-4286-42E8-BCBA-F94E5F1F9DA1}" dt="2026-08-27T18:54:01.203" v="10" actId="20577"/>
          <ac:spMkLst>
            <pc:docMk/>
            <pc:sldMk cId="0" sldId="257"/>
            <ac:spMk id="19" creationId="{00000000-0000-0000-0000-000000000000}"/>
          </ac:spMkLst>
        </pc:spChg>
      </pc:sldChg>
      <pc:sldChg chg="del">
        <pc:chgData name="kaylee rae" userId="1b29ab7783d1feb9" providerId="LiveId" clId="{B162316B-4286-42E8-BCBA-F94E5F1F9DA1}" dt="2026-08-27T18:54:12.387" v="11" actId="47"/>
        <pc:sldMkLst>
          <pc:docMk/>
          <pc:sldMk cId="0" sldId="258"/>
        </pc:sldMkLst>
      </pc:sldChg>
      <pc:sldChg chg="add del">
        <pc:chgData name="kaylee rae" userId="1b29ab7783d1feb9" providerId="LiveId" clId="{B162316B-4286-42E8-BCBA-F94E5F1F9DA1}" dt="2026-08-27T18:55:15.792" v="17" actId="47"/>
        <pc:sldMkLst>
          <pc:docMk/>
          <pc:sldMk cId="0" sldId="259"/>
        </pc:sldMkLst>
      </pc:sldChg>
      <pc:sldChg chg="del">
        <pc:chgData name="kaylee rae" userId="1b29ab7783d1feb9" providerId="LiveId" clId="{B162316B-4286-42E8-BCBA-F94E5F1F9DA1}" dt="2026-08-27T18:55:26.706" v="18" actId="47"/>
        <pc:sldMkLst>
          <pc:docMk/>
          <pc:sldMk cId="0" sldId="260"/>
        </pc:sldMkLst>
      </pc:sldChg>
      <pc:sldChg chg="addSp delSp modSp mod">
        <pc:chgData name="kaylee rae" userId="1b29ab7783d1feb9" providerId="LiveId" clId="{B162316B-4286-42E8-BCBA-F94E5F1F9DA1}" dt="2026-08-27T18:59:16.717" v="46" actId="339"/>
        <pc:sldMkLst>
          <pc:docMk/>
          <pc:sldMk cId="0" sldId="263"/>
        </pc:sldMkLst>
        <pc:spChg chg="mod">
          <ac:chgData name="kaylee rae" userId="1b29ab7783d1feb9" providerId="LiveId" clId="{B162316B-4286-42E8-BCBA-F94E5F1F9DA1}" dt="2026-08-27T18:58:13.289" v="29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kaylee rae" userId="1b29ab7783d1feb9" providerId="LiveId" clId="{B162316B-4286-42E8-BCBA-F94E5F1F9DA1}" dt="2026-08-27T18:55:33.998" v="21" actId="10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kaylee rae" userId="1b29ab7783d1feb9" providerId="LiveId" clId="{B162316B-4286-42E8-BCBA-F94E5F1F9DA1}" dt="2026-08-27T18:55:33.998" v="21" actId="10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kaylee rae" userId="1b29ab7783d1feb9" providerId="LiveId" clId="{B162316B-4286-42E8-BCBA-F94E5F1F9DA1}" dt="2026-08-27T18:58:41.025" v="43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kaylee rae" userId="1b29ab7783d1feb9" providerId="LiveId" clId="{B162316B-4286-42E8-BCBA-F94E5F1F9DA1}" dt="2026-08-27T18:55:44.810" v="22" actId="1410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kaylee rae" userId="1b29ab7783d1feb9" providerId="LiveId" clId="{B162316B-4286-42E8-BCBA-F94E5F1F9DA1}" dt="2026-08-27T18:55:47.572" v="23" actId="1076"/>
          <ac:spMkLst>
            <pc:docMk/>
            <pc:sldMk cId="0" sldId="263"/>
            <ac:spMk id="21" creationId="{00000000-0000-0000-0000-000000000000}"/>
          </ac:spMkLst>
        </pc:spChg>
        <pc:spChg chg="add del">
          <ac:chgData name="kaylee rae" userId="1b29ab7783d1feb9" providerId="LiveId" clId="{B162316B-4286-42E8-BCBA-F94E5F1F9DA1}" dt="2026-08-27T18:58:06.760" v="27" actId="478"/>
          <ac:spMkLst>
            <pc:docMk/>
            <pc:sldMk cId="0" sldId="263"/>
            <ac:spMk id="27" creationId="{46359E8B-B23C-A2A6-958D-A4DF27823EFE}"/>
          </ac:spMkLst>
        </pc:spChg>
        <pc:spChg chg="add mod ord">
          <ac:chgData name="kaylee rae" userId="1b29ab7783d1feb9" providerId="LiveId" clId="{B162316B-4286-42E8-BCBA-F94E5F1F9DA1}" dt="2026-08-27T18:59:16.717" v="46" actId="339"/>
          <ac:spMkLst>
            <pc:docMk/>
            <pc:sldMk cId="0" sldId="263"/>
            <ac:spMk id="29" creationId="{D384E4A5-38B5-A763-C40D-1D1DC7CD540C}"/>
          </ac:spMkLst>
        </pc:spChg>
      </pc:sldChg>
      <pc:sldChg chg="del">
        <pc:chgData name="kaylee rae" userId="1b29ab7783d1feb9" providerId="LiveId" clId="{B162316B-4286-42E8-BCBA-F94E5F1F9DA1}" dt="2026-08-27T18:57:32.877" v="24" actId="47"/>
        <pc:sldMkLst>
          <pc:docMk/>
          <pc:sldMk cId="0" sldId="269"/>
        </pc:sldMkLst>
      </pc:sldChg>
      <pc:sldChg chg="delSp mod">
        <pc:chgData name="kaylee rae" userId="1b29ab7783d1feb9" providerId="LiveId" clId="{B162316B-4286-42E8-BCBA-F94E5F1F9DA1}" dt="2026-08-27T18:57:45.968" v="25" actId="478"/>
        <pc:sldMkLst>
          <pc:docMk/>
          <pc:sldMk cId="0" sldId="270"/>
        </pc:sldMkLst>
        <pc:spChg chg="del">
          <ac:chgData name="kaylee rae" userId="1b29ab7783d1feb9" providerId="LiveId" clId="{B162316B-4286-42E8-BCBA-F94E5F1F9DA1}" dt="2026-08-27T18:57:45.968" v="25" actId="478"/>
          <ac:spMkLst>
            <pc:docMk/>
            <pc:sldMk cId="0" sldId="270"/>
            <ac:spMk id="16" creationId="{00000000-0000-0000-0000-000000000000}"/>
          </ac:spMkLst>
        </pc:spChg>
      </pc:sldChg>
      <pc:sldChg chg="add del">
        <pc:chgData name="kaylee rae" userId="1b29ab7783d1feb9" providerId="LiveId" clId="{B162316B-4286-42E8-BCBA-F94E5F1F9DA1}" dt="2026-08-27T19:04:41.371" v="53" actId="47"/>
        <pc:sldMkLst>
          <pc:docMk/>
          <pc:sldMk cId="527922705" sldId="271"/>
        </pc:sldMkLst>
      </pc:sldChg>
      <pc:sldChg chg="addSp new del mod ord">
        <pc:chgData name="kaylee rae" userId="1b29ab7783d1feb9" providerId="LiveId" clId="{B162316B-4286-42E8-BCBA-F94E5F1F9DA1}" dt="2026-08-27T19:02:37.809" v="51" actId="47"/>
        <pc:sldMkLst>
          <pc:docMk/>
          <pc:sldMk cId="1330011857" sldId="271"/>
        </pc:sldMkLst>
        <pc:picChg chg="add">
          <ac:chgData name="kaylee rae" userId="1b29ab7783d1feb9" providerId="LiveId" clId="{B162316B-4286-42E8-BCBA-F94E5F1F9DA1}" dt="2026-08-27T19:02:27.822" v="50" actId="22"/>
          <ac:picMkLst>
            <pc:docMk/>
            <pc:sldMk cId="1330011857" sldId="271"/>
            <ac:picMk id="3" creationId="{1C59B9D6-E183-4EBE-62EE-0CB0581EDD4F}"/>
          </ac:picMkLst>
        </pc:picChg>
      </pc:sldChg>
      <pc:sldMasterChg chg="delSldLayout">
        <pc:chgData name="kaylee rae" userId="1b29ab7783d1feb9" providerId="LiveId" clId="{B162316B-4286-42E8-BCBA-F94E5F1F9DA1}" dt="2026-08-27T19:04:41.371" v="53" actId="47"/>
        <pc:sldMasterMkLst>
          <pc:docMk/>
          <pc:sldMasterMk cId="0" sldId="2147483648"/>
        </pc:sldMasterMkLst>
        <pc:sldLayoutChg chg="del">
          <pc:chgData name="kaylee rae" userId="1b29ab7783d1feb9" providerId="LiveId" clId="{B162316B-4286-42E8-BCBA-F94E5F1F9DA1}" dt="2026-08-27T19:04:41.371" v="53" actId="47"/>
          <pc:sldLayoutMkLst>
            <pc:docMk/>
            <pc:sldMasterMk cId="0" sldId="2147483648"/>
            <pc:sldLayoutMk cId="1504734653" sldId="214748365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F26A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FC-43CB-86DC-10564F408B58}"/>
              </c:ext>
            </c:extLst>
          </c:dPt>
          <c:dPt>
            <c:idx val="1"/>
            <c:invertIfNegative val="0"/>
            <c:bubble3D val="0"/>
            <c:spPr>
              <a:solidFill>
                <a:srgbClr val="2F6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C-43CB-86DC-10564F408B58}"/>
              </c:ext>
            </c:extLst>
          </c:dPt>
          <c:dPt>
            <c:idx val="2"/>
            <c:invertIfNegative val="0"/>
            <c:bubble3D val="0"/>
            <c:spPr>
              <a:solidFill>
                <a:srgbClr val="0F2A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FC-43CB-86DC-10564F408B58}"/>
              </c:ext>
            </c:extLst>
          </c:dPt>
          <c:dLbls>
            <c:numFmt formatCode="&quot;$&quot;#,##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SOM  (3-yr target)</c:v>
                </c:pt>
                <c:pt idx="1">
                  <c:v>SAM  (mid-market CDM)</c:v>
                </c:pt>
                <c:pt idx="2">
                  <c:v>TAM  (US revenue integrity)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200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FC-43CB-86DC-10564F408B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320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22128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ChargeGuard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Opportunity Overview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chargemaster (CDM) review for the mid-market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Aman, Neuriphy</a:t>
            </a:r>
            <a:r>
              <a:rPr lang="en-US" sz="13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growing, and under-served market with a defensible wedge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universal, recurring need 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~6,100 U.S. hospitals runs a chargemaster that must be reviewed at least annually, and re-checked as CMS rules change each quarter.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14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dollars are leaking 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lose an estimated 1 to 3 percent of gross revenue to charge-capture and chargemaster errors.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29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tailwind 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2024 all hospitals must publish standardized price files, yet only ~21% fully comply, and enforcement is tightening.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43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incumbents leave a gap 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 are six-figure and built for large systems. Mid-market hospitals and RCM consultants have no fast, affordable, repeatable tool.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ChargeGuard does?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web app that reproduces an expert review to the penny, and turns a one-time engagement into a recurring, per-quarter relationship.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regulatory shift just made the core data usable, and demand permanent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~6,100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hospitals, each required to review pricing on a cycle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6002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61688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21%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hospitals are fully price-transparency compliant today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16002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83296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quarter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updates codes and payment rules, forcing re-review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0F2A47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standardized price-transparency template changed the game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2062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prices are now published in a common format, making real peer benchmarking possible for the first time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February 2025 federal executive order calls for stronger enforcement, raising the stakes for non-compliant hospitals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non-compliance is a wide, addressable gap the tool directly helps close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Patient Rights Advocate (compliance); CMS; White House EO, Feb 2025.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focused, bottom-up entry point inside a multi-billion-dollar market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45920"/>
          <a:ext cx="7040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45920"/>
            <a:ext cx="3730752" cy="3840480"/>
          </a:xfrm>
          <a:prstGeom prst="roundRect">
            <a:avLst>
              <a:gd name="adj" fmla="val 1961"/>
            </a:avLst>
          </a:prstGeom>
          <a:solidFill>
            <a:srgbClr val="F6F7F9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24028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U.S. revenue-integrity and CDM tooling and services across all facility types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~5,100 community hospitals x ~$30–40K per year for a recurring CDM review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~300 hospitals in 3 years, direct and through RCM-consultant channels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Bottom-up estimate; AHA hospital counts; illustrative per-hospital pricing.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Incumbents serve large systems; the mid-market is open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1600200"/>
            <a:ext cx="7680960" cy="4114800"/>
          </a:xfrm>
          <a:prstGeom prst="rect">
            <a:avLst/>
          </a:prstGeom>
          <a:solidFill>
            <a:srgbClr val="F6F7F9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0" y="1600200"/>
            <a:ext cx="0" cy="411480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3657600"/>
            <a:ext cx="768096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affordable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costly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5824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Enterprise-only  →                              →  Mid-market 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2402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2A47"/>
          </a:solidFill>
          <a:ln/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159391" y="2322576"/>
            <a:ext cx="1350498" cy="34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8346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2A47"/>
          </a:solidFill>
          <a:ln/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3832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372729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F2A47"/>
          </a:solidFill>
          <a:ln/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286000" y="3372729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FinThrive</a:t>
            </a:r>
            <a:endParaRPr lang="en-US" sz="11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D384E4A5-38B5-A763-C40D-1D1DC7CD540C}"/>
              </a:ext>
            </a:extLst>
          </p:cNvPr>
          <p:cNvSpPr/>
          <p:nvPr/>
        </p:nvSpPr>
        <p:spPr>
          <a:xfrm>
            <a:off x="1965960" y="4641166"/>
            <a:ext cx="1828800" cy="502920"/>
          </a:xfrm>
          <a:prstGeom prst="roundRect">
            <a:avLst>
              <a:gd name="adj" fmla="val 18182"/>
            </a:avLst>
          </a:prstGeom>
          <a:solidFill>
            <a:schemeClr val="bg1">
              <a:lumMod val="85000"/>
            </a:schemeClr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23774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26A3D"/>
          </a:solidFill>
          <a:ln/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5800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66889" y="4663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consultants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1600200"/>
            <a:ext cx="2221992" cy="4023360"/>
          </a:xfrm>
          <a:prstGeom prst="roundRect">
            <a:avLst>
              <a:gd name="adj" fmla="val 3292"/>
            </a:avLst>
          </a:prstGeom>
          <a:solidFill>
            <a:srgbClr val="F6F7F9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01200" y="16928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space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2286000"/>
            <a:ext cx="1874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affordable, and repeatable for mid-size hospitals and the RCM consultants who serve them, with peer benchmarking built in.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scan runs an expert-grade review across the whole chargemaster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86537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 status logic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579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Bundling, packaging and pass-through under Medicare outpatient rules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6459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98848" y="186537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9884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93208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validity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93208" y="21579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codes, missing new codes, add-on and modifier errors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91856" y="16459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0456" y="186537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045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14816" y="1828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devices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814816" y="21579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 and unit mismatches, billing-unit errors, device crosswalks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vs Medicare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5753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 and over-pricing as markup over the CMS fee schedules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0248" y="30632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98848" y="32826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49884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9320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93208" y="35753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price vs competitors, from public transparency files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91856" y="30632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0456" y="3282696"/>
            <a:ext cx="457200" cy="45720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220456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4816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transparency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814816" y="35753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 charge-capture checks and shoppable-services compliance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traces to a specific CMS rule, so findings are defensible in an audit.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guided, five-step engagement that runs the same way every 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237744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25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quarter, competitors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2148840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52928" y="21488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30168" y="237744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63016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CDM, R&amp;U, formulary, claims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148840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57216" y="21488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34456" y="237744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9344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0096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files, flag errors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148840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61504" y="21488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38744" y="237744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2387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52944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setup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44384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competitor price files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546336" y="2148840"/>
            <a:ext cx="320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65792" y="21488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543032" y="237744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054303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948672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pricing, deliverable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it each quarter: every scan re-checks the CDM against current rules and shows what changed.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 rigor at software speed and price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consultant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per engagement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Five-figure cost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Point-in-time, stale fast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repeat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6459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98848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774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Six-figure per year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implementation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large systems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overhead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16459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0F2A47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0456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774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scan, minutes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 subscription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any quarter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browser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DEEE7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reproduces a real expert's CDM review to the exact number, flag counts and dollar totals to the penny.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Recurring, high-margin software with low cost to serve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~$30–40K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 per hospital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6459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61688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gross margin (illustrative)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16459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83296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 / yr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re-scans drive stickiness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6F7F9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economics work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2062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CMS reference data refreshes automatically, so incremental cost per client and per scan is low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serves many clients; onboarding a new hospital is loading files, not a build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re-scans convert a one-time review into durable, expanding revenue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Illustrative model; pricing and margin are planning assumptions.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channels into the same underserved buyer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 consultants &amp; boutique firms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tool as the engine behind their engagements. It turns a multi-week manual review into a same-day, repeatable deliverable, so they serve more clients with less senior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16459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65392" y="192024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6539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96912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&amp; critical-access hospitals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26517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direct as an affordable CDM health check they cannot get from enterprise vendors, then expand to quarterly monitoring and peer benchmarking.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F2A47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one review, expand to every quarter, then to peer benchmarking and more facility types.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  ·   Market &amp; Opportunity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6455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universal need, a regulatory tailwind, and an open mid-market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$308B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RCM market by 2030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32004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6616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~6,100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needing recurring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0936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transparency-compliant today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32004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blurRad="88900" dist="25400" dir="5400000" algn="bl" rotWithShape="0">
              <a:srgbClr val="1F2937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05256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validated now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997</Words>
  <Application>Microsoft Office PowerPoint</Application>
  <PresentationFormat>Widescreen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kaylee rae</cp:lastModifiedBy>
  <cp:revision>1</cp:revision>
  <dcterms:created xsi:type="dcterms:W3CDTF">2026-08-27T18:51:20Z</dcterms:created>
  <dcterms:modified xsi:type="dcterms:W3CDTF">2026-08-27T19:04:45Z</dcterms:modified>
</cp:coreProperties>
</file>
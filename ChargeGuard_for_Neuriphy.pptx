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9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ee rae" userId="1b29ab7783d1feb9" providerId="LiveId" clId="{B162316B-4286-42E8-BCBA-F94E5F1F9DA1}"/>
    <pc:docChg chg="delSld modSld">
      <pc:chgData name="kaylee rae" userId="1b29ab7783d1feb9" providerId="LiveId" clId="{B162316B-4286-42E8-BCBA-F94E5F1F9DA1}" dt="2026-08-27T19:20:45.077" v="6" actId="47"/>
      <pc:docMkLst>
        <pc:docMk/>
      </pc:docMkLst>
      <pc:sldChg chg="del">
        <pc:chgData name="kaylee rae" userId="1b29ab7783d1feb9" providerId="LiveId" clId="{B162316B-4286-42E8-BCBA-F94E5F1F9DA1}" dt="2026-08-27T19:20:45.077" v="6" actId="47"/>
        <pc:sldMkLst>
          <pc:docMk/>
          <pc:sldMk cId="0" sldId="258"/>
        </pc:sldMkLst>
      </pc:sldChg>
      <pc:sldChg chg="modSp mod">
        <pc:chgData name="kaylee rae" userId="1b29ab7783d1feb9" providerId="LiveId" clId="{B162316B-4286-42E8-BCBA-F94E5F1F9DA1}" dt="2026-08-27T19:20:34.730" v="5" actId="403"/>
        <pc:sldMkLst>
          <pc:docMk/>
          <pc:sldMk cId="0" sldId="260"/>
        </pc:sldMkLst>
        <pc:spChg chg="mod">
          <ac:chgData name="kaylee rae" userId="1b29ab7783d1feb9" providerId="LiveId" clId="{B162316B-4286-42E8-BCBA-F94E5F1F9DA1}" dt="2026-08-27T19:20:31.552" v="4" actId="10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kaylee rae" userId="1b29ab7783d1feb9" providerId="LiveId" clId="{B162316B-4286-42E8-BCBA-F94E5F1F9DA1}" dt="2026-08-27T19:20:31.552" v="4" actId="10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kaylee rae" userId="1b29ab7783d1feb9" providerId="LiveId" clId="{B162316B-4286-42E8-BCBA-F94E5F1F9DA1}" dt="2026-08-27T19:20:34.730" v="5" actId="403"/>
          <ac:spMkLst>
            <pc:docMk/>
            <pc:sldMk cId="0" sldId="260"/>
            <ac:spMk id="1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$M</c:v>
                </c:pt>
              </c:strCache>
            </c:strRef>
          </c:tx>
          <c:spPr>
            <a:solidFill>
              <a:srgbClr val="45D3A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CB8-49CB-A958-53ED75C51234}"/>
              </c:ext>
            </c:extLst>
          </c:dPt>
          <c:dPt>
            <c:idx val="1"/>
            <c:invertIfNegative val="0"/>
            <c:bubble3D val="0"/>
            <c:spPr>
              <a:solidFill>
                <a:srgbClr val="586E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B8-49CB-A958-53ED75C51234}"/>
              </c:ext>
            </c:extLst>
          </c:dPt>
          <c:dPt>
            <c:idx val="2"/>
            <c:invertIfNegative val="0"/>
            <c:bubble3D val="0"/>
            <c:spPr>
              <a:solidFill>
                <a:srgbClr val="6050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CB8-49CB-A958-53ED75C51234}"/>
              </c:ext>
            </c:extLst>
          </c:dPt>
          <c:dLbls>
            <c:numFmt formatCode="&quot;$&quot;#,##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B4D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SOM  (3-yr target)</c:v>
                </c:pt>
                <c:pt idx="1">
                  <c:v>SAM  (mid-market CDM)</c:v>
                </c:pt>
                <c:pt idx="2">
                  <c:v>TAM  (US revenue integrity)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200</c:v>
                </c:pt>
                <c:pt idx="2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CB8-49CB-A958-53ED75C512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4D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909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37160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18120" y="137160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35440" y="137160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52760" y="137160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0" y="1481328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18120" y="1481328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235440" y="1481328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52760" y="1481328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2825496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18120" y="2825496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235440" y="2825496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52760" y="2825496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0" y="4169664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18120" y="4169664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35440" y="4169664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652760" y="4169664"/>
            <a:ext cx="1188720" cy="1188720"/>
          </a:xfrm>
          <a:prstGeom prst="ellipse">
            <a:avLst/>
          </a:prstGeom>
          <a:solidFill>
            <a:srgbClr val="8E7B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63656" y="4480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5513832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18120" y="5513832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35440" y="5513832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52760" y="5513832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/tmp/amelior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143000" cy="79552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66928" y="2148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CHARGEGUARD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514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586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Chargemaster Review</a:t>
            </a:r>
            <a:endParaRPr lang="en-US" sz="40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43434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opportunity, and why it fits Neuriphy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5806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Aman, Neuriphy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in brief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universal, recurring need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~6,100 U.S. hospitals runs a chargemaster that must be reviewed at least yearly, and re-checked as CMS rules change each quarter.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34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dollars leak, and the rules just tightened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3101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lose 1 to 3 percent of gross revenue to chargemaster errors, and since 2024 they must publish standardized prices, yet only ~21% comply.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251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incumbents leave the mid-market open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7274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are six-figure and built for large systems. Mid-size hospitals and the consultants who serve them have no fast, affordable, repeatable option.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ChargeGuard is a built, deployed tool that fills exactly that gap, and turns a one-time review into a recurring, per-quarter relationship.</a:t>
            </a:r>
            <a:endParaRPr lang="en-US" sz="1250" dirty="0"/>
          </a:p>
        </p:txBody>
      </p:sp>
      <p:pic>
        <p:nvPicPr>
          <p:cNvPr id="17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entry point in a multi-billion-dollar market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554480"/>
          <a:ext cx="6858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726680" y="1554480"/>
            <a:ext cx="3913632" cy="3840480"/>
          </a:xfrm>
          <a:prstGeom prst="roundRect">
            <a:avLst>
              <a:gd name="adj" fmla="val 1429"/>
            </a:avLst>
          </a:prstGeom>
          <a:solidFill>
            <a:srgbClr val="F5F5F5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9552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get there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194560"/>
            <a:ext cx="3429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—  U.S. revenue-integrity and CDM tooling across all facility types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—  ~5,100 community hospitals x ~$30–40K per year for a recurring review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 —  ~300 hospitals in 3 years, direct and via RCM-consultant channels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614476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bottom-up estimate; AHA hospital counts; illustrative per-hospital pricing.</a:t>
            </a:r>
            <a:endParaRPr lang="en-US" sz="850" dirty="0"/>
          </a:p>
        </p:txBody>
      </p:sp>
      <p:pic>
        <p:nvPicPr>
          <p:cNvPr id="8" name="Image 0" descr="/tmp/amelior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serve large systems; the mid-market is open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54480" y="1554480"/>
            <a:ext cx="7498080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0" y="1554480"/>
            <a:ext cx="0" cy="397764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3543300"/>
            <a:ext cx="7498080" cy="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463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5641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Enterprise-only                                        Mid-market fit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214884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60507E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96596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Craneware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60507E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38328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313355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60507E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331720" y="3313355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FinThrive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22860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45D3A1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12280" y="2286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ChargeGuard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consultants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81160" y="1554480"/>
            <a:ext cx="2359152" cy="3977640"/>
          </a:xfrm>
          <a:prstGeom prst="roundRect">
            <a:avLst>
              <a:gd name="adj" fmla="val 2326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46404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 space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2148840"/>
            <a:ext cx="2057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affordable, repeatable for mid-size hospitals and the RCM consultants who serve them, with peer benchmarking built in.</a:t>
            </a:r>
            <a:endParaRPr lang="en-US" sz="1150" dirty="0"/>
          </a:p>
        </p:txBody>
      </p:sp>
      <p:pic>
        <p:nvPicPr>
          <p:cNvPr id="21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ChargeGuard does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7282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728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&amp; compliance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Retired codes, packaging, pass-through, modifiers, revenue-code errors, all tied to CMS rules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4173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73952" y="17282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73952" y="1728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&amp; devices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920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 and unit mismatches, billing-unit errors, device-to-procedure crosswalks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0998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peer benchmark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291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vs Medicare, plus your price vs competitors from public transparency files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27889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30998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73952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59752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&amp; transparency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3291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837 charge-capture checks and the CMS shoppable-services requirements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check is tied to a dollar figure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8920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finding is ranked by severity and estimated financial impact, with the CMS rule or peer benchmark behind it, so a client can see exactly where money is being left on the table.</a:t>
            </a:r>
            <a:endParaRPr lang="en-US" sz="1250" dirty="0"/>
          </a:p>
        </p:txBody>
      </p:sp>
      <p:pic>
        <p:nvPicPr>
          <p:cNvPr id="26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80160" y="2029968"/>
            <a:ext cx="621792" cy="62179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280160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facility profile and choose the peer hospitals to benchmark against.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15184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61488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93008" y="2029968"/>
            <a:ext cx="621792" cy="62179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493008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CDM, revenue usage, formulary, claims (837), and peer price files.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974336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05856" y="2029968"/>
            <a:ext cx="621792" cy="62179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705856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65776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detected columns and code mappings before the scan runs.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7187184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18704" y="2029968"/>
            <a:ext cx="621792" cy="62179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918704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278624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51776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engine checks every line against current CMS reference data.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400032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131552" y="2029968"/>
            <a:ext cx="621792" cy="62179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131552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491472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564624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issues with dollar impact, peer benchmark, and an Excel export.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48640" y="5120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every quarter. Each scan re-checks the CDM against the latest CMS rules and shows exactly what changed.</a:t>
            </a:r>
            <a:endParaRPr lang="en-US" sz="1250" dirty="0"/>
          </a:p>
        </p:txBody>
      </p:sp>
      <p:pic>
        <p:nvPicPr>
          <p:cNvPr id="34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fits Neuriphy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709928"/>
            <a:ext cx="530352" cy="53035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09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73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recurring, high-margin product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402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with self-refreshing CMS data: low cost to serve, quarterly re-scans, and revenue that compounds client over client.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41732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19672" y="1709928"/>
            <a:ext cx="530352" cy="53035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19672" y="1709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1673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Complements a hospital / revenue-cycle footprint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2402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slots alongside existing hospital or RCM relationships as a fast, affordable add-on, not a competing enterprise platform.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3584448"/>
            <a:ext cx="530352" cy="53035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3584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5478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ready channel play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14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it as the engine behind consulting engagements, or direct to mid-market hospitals, then land-and-expand into monitoring and peer benchmarking.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329184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19672" y="3584448"/>
            <a:ext cx="530352" cy="53035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519672" y="3584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35478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De-risked: built and validated today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114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deployed tool that already reproduces an expert CDM review to the penny, so the concept is proven, not theoretical.</a:t>
            </a:r>
            <a:endParaRPr lang="en-US" sz="1150" dirty="0"/>
          </a:p>
        </p:txBody>
      </p:sp>
      <p:pic>
        <p:nvPicPr>
          <p:cNvPr id="23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</Words>
  <Application>Microsoft Office PowerPoint</Application>
  <PresentationFormat>Widescreen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kaylee rae</cp:lastModifiedBy>
  <cp:revision>1</cp:revision>
  <dcterms:created xsi:type="dcterms:W3CDTF">2026-08-27T19:17:18Z</dcterms:created>
  <dcterms:modified xsi:type="dcterms:W3CDTF">2026-08-27T19:20:52Z</dcterms:modified>
</cp:coreProperties>
</file>
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90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lee rae" userId="1b29ab7783d1feb9" providerId="LiveId" clId="{B162316B-4286-42E8-BCBA-F94E5F1F9DA1}"/>
    <pc:docChg chg="modSld">
      <pc:chgData name="kaylee rae" userId="1b29ab7783d1feb9" providerId="LiveId" clId="{B162316B-4286-42E8-BCBA-F94E5F1F9DA1}" dt="2026-08-27T19:28:17.551" v="16" actId="20577"/>
      <pc:docMkLst>
        <pc:docMk/>
      </pc:docMkLst>
      <pc:sldChg chg="modSp mod">
        <pc:chgData name="kaylee rae" userId="1b29ab7783d1feb9" providerId="LiveId" clId="{B162316B-4286-42E8-BCBA-F94E5F1F9DA1}" dt="2026-08-27T19:27:50.477" v="5" actId="1036"/>
        <pc:sldMkLst>
          <pc:docMk/>
          <pc:sldMk cId="0" sldId="260"/>
        </pc:sldMkLst>
        <pc:spChg chg="mod">
          <ac:chgData name="kaylee rae" userId="1b29ab7783d1feb9" providerId="LiveId" clId="{B162316B-4286-42E8-BCBA-F94E5F1F9DA1}" dt="2026-08-27T19:27:50.477" v="5" actId="103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kaylee rae" userId="1b29ab7783d1feb9" providerId="LiveId" clId="{B162316B-4286-42E8-BCBA-F94E5F1F9DA1}" dt="2026-08-27T19:27:50.477" v="5" actId="1036"/>
          <ac:spMkLst>
            <pc:docMk/>
            <pc:sldMk cId="0" sldId="260"/>
            <ac:spMk id="14" creationId="{00000000-0000-0000-0000-000000000000}"/>
          </ac:spMkLst>
        </pc:spChg>
      </pc:sldChg>
      <pc:sldChg chg="modSp mod">
        <pc:chgData name="kaylee rae" userId="1b29ab7783d1feb9" providerId="LiveId" clId="{B162316B-4286-42E8-BCBA-F94E5F1F9DA1}" dt="2026-08-27T19:28:17.551" v="16" actId="20577"/>
        <pc:sldMkLst>
          <pc:docMk/>
          <pc:sldMk cId="0" sldId="263"/>
        </pc:sldMkLst>
        <pc:spChg chg="mod">
          <ac:chgData name="kaylee rae" userId="1b29ab7783d1feb9" providerId="LiveId" clId="{B162316B-4286-42E8-BCBA-F94E5F1F9DA1}" dt="2026-08-27T19:28:17.551" v="16" actId="20577"/>
          <ac:spMkLst>
            <pc:docMk/>
            <pc:sldMk cId="0" sldId="263"/>
            <ac:spMk id="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$M at risk / yr</c:v>
                </c:pt>
              </c:strCache>
            </c:strRef>
          </c:tx>
          <c:spPr>
            <a:solidFill>
              <a:srgbClr val="60507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050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BA2-4900-AC39-18807D1D8ABF}"/>
              </c:ext>
            </c:extLst>
          </c:dPt>
          <c:dPt>
            <c:idx val="1"/>
            <c:invertIfNegative val="0"/>
            <c:bubble3D val="0"/>
            <c:spPr>
              <a:solidFill>
                <a:srgbClr val="586E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BA2-4900-AC39-18807D1D8ABF}"/>
              </c:ext>
            </c:extLst>
          </c:dPt>
          <c:dLbls>
            <c:numFmt formatCode="&quot;$&quot;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4B4D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HFMA estimate (1%)</c:v>
                </c:pt>
                <c:pt idx="1">
                  <c:v>Industry studies (3–5%)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BA2-4900-AC39-18807D1D8A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4D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668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37160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818120" y="137160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235440" y="137160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52760" y="137160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0" y="1481328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18120" y="1481328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235440" y="1481328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652760" y="1481328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2825496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818120" y="2825496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235440" y="2825496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52760" y="2825496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0" y="4169664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818120" y="4169664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35440" y="4169664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652760" y="4169664"/>
            <a:ext cx="1188720" cy="1188720"/>
          </a:xfrm>
          <a:prstGeom prst="ellipse">
            <a:avLst/>
          </a:prstGeom>
          <a:solidFill>
            <a:srgbClr val="8E7B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963656" y="44805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5513832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818120" y="5513832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235440" y="5513832"/>
            <a:ext cx="1188720" cy="118872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652760" y="5513832"/>
            <a:ext cx="1188720" cy="1188720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0" descr="/tmp/amelior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143000" cy="795528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66928" y="2148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CHARGEGUARD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25146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586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Chargemaster Review</a:t>
            </a:r>
            <a:endParaRPr lang="en-US" sz="40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43434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chargemaster-review opportunity, and why it fits Neuriphy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5806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Aman, Neuriphy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in brief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66928" cy="566928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 every hospital has to repeat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9280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~6,100 U.S. hospitals must review its chargemaster at least once a year, and re-check coding every quarter as CMS updates its rules. The work never finishes.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66928" cy="566928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834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dollars leak between reviews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3101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to 5% of net patient revenue is lost to charge-capture and chargemaster errors. On a $500M system that is roughly $5M to $20M a year.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566928" cy="566928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2519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reviews are costly and periodic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7274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outside review runs $50K to $100K for a mid-size hospital and often happens only every two to three years, so errors compound in between.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5321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DCF3EB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55321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ChargeGuard turns that costly, every-few-years review into an affordable check a hospital can run every quarter.</a:t>
            </a:r>
            <a:endParaRPr lang="en-US" sz="1250" dirty="0"/>
          </a:p>
        </p:txBody>
      </p:sp>
      <p:pic>
        <p:nvPicPr>
          <p:cNvPr id="17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Chargemaster reviews run on a repeating clock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28016"/>
          </a:xfrm>
          <a:prstGeom prst="roundRect">
            <a:avLst>
              <a:gd name="adj" fmla="val 14286"/>
            </a:avLst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Annually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CDM review is the minimum best practice. Every department's charges are reviewed at least once a year.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155448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51960" y="1554480"/>
            <a:ext cx="3520440" cy="128016"/>
          </a:xfrm>
          <a:prstGeom prst="roundRect">
            <a:avLst>
              <a:gd name="adj" fmla="val 14286"/>
            </a:avLst>
          </a:prstGeom>
          <a:solidFill>
            <a:srgbClr val="45D3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26280" y="19659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7432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updates codes and OPPS rules every quarter, so coding is re-audited each quarter to stay compliant.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155448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55280" y="1554480"/>
            <a:ext cx="3520440" cy="128016"/>
          </a:xfrm>
          <a:prstGeom prst="roundRect">
            <a:avLst>
              <a:gd name="adj" fmla="val 14286"/>
            </a:avLst>
          </a:prstGeom>
          <a:solidFill>
            <a:srgbClr val="586E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229600" y="19659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86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2–3 yrs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7432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guidance is to bring in an external reviewer for a full independent audit every two to three years.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DCF3EB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5800" y="50292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cadence never ends. The chargemaster shifts as clinical practice and CMS rules change, so the review recurs by design, which makes it a natural subscription rather than a one-time project.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614476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AAPC; PMMC; HMI chargemaster maintenance guidance.</a:t>
            </a:r>
            <a:endParaRPr lang="en-US" sz="850" dirty="0"/>
          </a:p>
        </p:txBody>
      </p:sp>
      <p:pic>
        <p:nvPicPr>
          <p:cNvPr id="18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reviews are expensive, and the stakes are high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691640"/>
          <a:ext cx="59436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 at risk on a $500M system, per year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766560" y="1691640"/>
            <a:ext cx="48737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949440" y="1828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$50K–$100K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967728" y="235000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a full chargemaster and revenue review for a mid-size (~200-bed) hospital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766560" y="3108960"/>
            <a:ext cx="48737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949440" y="3246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86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2–3 yrs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967728" y="37673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often most hospitals actually get a full external review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66560" y="4526280"/>
            <a:ext cx="4873752" cy="731520"/>
          </a:xfrm>
          <a:prstGeom prst="roundRect">
            <a:avLst>
              <a:gd name="adj" fmla="val 7500"/>
            </a:avLst>
          </a:prstGeom>
          <a:solidFill>
            <a:srgbClr val="DCF3EB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903720" y="45262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high cost, run too rarely. ChargeGuard makes the same review affordable and continuous.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614476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American Healthcare Consulting (review cost); HFMA and industry charge-capture studies.</a:t>
            </a:r>
            <a:endParaRPr lang="en-US" sz="850" dirty="0"/>
          </a:p>
        </p:txBody>
      </p:sp>
      <p:pic>
        <p:nvPicPr>
          <p:cNvPr id="14" name="Image 0" descr="/tmp/amelior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Incumbents serve large systems; the mid-market is open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554480" y="1554480"/>
            <a:ext cx="7498080" cy="3977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03520" y="1554480"/>
            <a:ext cx="0" cy="3977640"/>
          </a:xfrm>
          <a:prstGeom prst="line">
            <a:avLst/>
          </a:prstGeom>
          <a:noFill/>
          <a:ln w="1270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4480" y="3543300"/>
            <a:ext cx="7498080" cy="0"/>
          </a:xfrm>
          <a:prstGeom prst="line">
            <a:avLst/>
          </a:prstGeom>
          <a:noFill/>
          <a:ln w="12700">
            <a:solidFill>
              <a:srgbClr val="E4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4632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costly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56418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Enterprise-only                                        Mid-market fit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214884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60507E"/>
          </a:solidFill>
          <a:ln/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96596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Craneware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74320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60507E"/>
          </a:solidFill>
          <a:ln/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38328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Optum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3326802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60507E"/>
          </a:solidFill>
          <a:ln/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331720" y="332680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FinThrive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228600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45D3A1"/>
          </a:solidFill>
          <a:ln/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12280" y="2286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ChargeGuard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consultants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281160" y="1554480"/>
            <a:ext cx="2359152" cy="3977640"/>
          </a:xfrm>
          <a:prstGeom prst="roundRect">
            <a:avLst>
              <a:gd name="adj" fmla="val 2326"/>
            </a:avLst>
          </a:prstGeom>
          <a:solidFill>
            <a:srgbClr val="DCF3EB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46404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white space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464040" y="2148840"/>
            <a:ext cx="2057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affordable, repeatable for mid-size hospitals and the RCM consultants who serve them, with peer benchmarking built in.</a:t>
            </a:r>
            <a:endParaRPr lang="en-US" sz="1150" dirty="0"/>
          </a:p>
        </p:txBody>
      </p:sp>
      <p:pic>
        <p:nvPicPr>
          <p:cNvPr id="21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ChargeGuard does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728216"/>
            <a:ext cx="548640" cy="54864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728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&amp; compliance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202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Retired codes, packaging, pass-through, modifiers, revenue-code errors, all tied to CMS rules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5352" y="14173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73952" y="1728216"/>
            <a:ext cx="548640" cy="54864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73952" y="1728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1600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Pharmacy &amp; devices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9202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NDC and unit mismatches, billing-unit errors, device-to-procedure crosswalks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3099816"/>
            <a:ext cx="548640" cy="54864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3099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971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peer benchmark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291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Markup vs Medicare, plus your price vs competitors from public transparency files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5352" y="278892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73952" y="3099816"/>
            <a:ext cx="548640" cy="548640"/>
          </a:xfrm>
          <a:prstGeom prst="ellipse">
            <a:avLst/>
          </a:prstGeom>
          <a:solidFill>
            <a:srgbClr val="DC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73952" y="3099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5D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159752" y="2971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&amp; transparency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59752" y="3291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837 charge-capture checks and the CMS shoppable-services requirements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77240" y="44805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check is tied to a dollar figure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8920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finding is ranked by severity and estimated financial impact, with the CMS rule or peer benchmark behind it, so a client can see exactly where money is being left on the table.</a:t>
            </a:r>
            <a:endParaRPr lang="en-US" sz="1250" dirty="0"/>
          </a:p>
        </p:txBody>
      </p:sp>
      <p:pic>
        <p:nvPicPr>
          <p:cNvPr id="26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084832" cy="31089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80160" y="2029968"/>
            <a:ext cx="621792" cy="621792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280160" y="2029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2004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facility profile and choose the peer hospitals to benchmark against.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615184" y="292608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E7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61488" y="1737360"/>
            <a:ext cx="2084832" cy="31089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93008" y="2029968"/>
            <a:ext cx="621792" cy="621792"/>
          </a:xfrm>
          <a:prstGeom prst="ellipse">
            <a:avLst/>
          </a:prstGeom>
          <a:solidFill>
            <a:srgbClr val="45D3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493008" y="2029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852928" y="27889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2004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the CDM, revenue usage, formulary, claims (837), and peer price files.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292608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E7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974336" y="1737360"/>
            <a:ext cx="2084832" cy="31089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05856" y="2029968"/>
            <a:ext cx="621792" cy="621792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705856" y="2029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065776" y="27889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38928" y="32004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detected columns and code mappings before the scan runs.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292608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E7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7187184" y="1737360"/>
            <a:ext cx="2084832" cy="31089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918704" y="2029968"/>
            <a:ext cx="621792" cy="621792"/>
          </a:xfrm>
          <a:prstGeom prst="ellipse">
            <a:avLst/>
          </a:prstGeom>
          <a:solidFill>
            <a:srgbClr val="45D3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918704" y="2029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278624" y="27889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351776" y="32004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engine checks every line against current CMS reference data.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253728" y="292608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E7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9400032" y="1737360"/>
            <a:ext cx="2084832" cy="31089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131552" y="2029968"/>
            <a:ext cx="621792" cy="621792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10131552" y="20299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491472" y="278892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564624" y="320040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issues with dollar impact, peer benchmark, and an Excel export.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12064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DCF3EB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548640" y="51206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every quarter. Each scan re-checks the CDM against the latest CMS rules and shows exactly what changed.</a:t>
            </a:r>
            <a:endParaRPr lang="en-US" sz="1250" dirty="0"/>
          </a:p>
        </p:txBody>
      </p:sp>
      <p:pic>
        <p:nvPicPr>
          <p:cNvPr id="34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709928"/>
            <a:ext cx="530352" cy="530352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709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7335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recurring, high-margin product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402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with self-refreshing CMS data: low cost to serve, quarterly re-scans, and revenue that compounds client over client.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5352" y="141732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19672" y="1709928"/>
            <a:ext cx="530352" cy="530352"/>
          </a:xfrm>
          <a:prstGeom prst="ellipse">
            <a:avLst/>
          </a:prstGeom>
          <a:solidFill>
            <a:srgbClr val="45D3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519672" y="1709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205472" y="167335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Complements a hospital / revenue-cycle footprint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2402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slots alongside existing hospital or RCM relationships as a fast, affordable add-on, not a competing enterprise platform.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3584448"/>
            <a:ext cx="530352" cy="530352"/>
          </a:xfrm>
          <a:prstGeom prst="ellipse">
            <a:avLst/>
          </a:prstGeom>
          <a:solidFill>
            <a:srgbClr val="6050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3584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54787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ready channel play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148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it as the engine behind consulting engagements, or direct to mid-market hospitals, then land-and-expand into monitoring and peer benchmarking.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5352" y="329184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4EA"/>
            </a:solidFill>
            <a:prstDash val="solid"/>
          </a:ln>
          <a:effectLst>
            <a:outerShdw blurRad="76200" dist="254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19672" y="3584448"/>
            <a:ext cx="530352" cy="530352"/>
          </a:xfrm>
          <a:prstGeom prst="ellipse">
            <a:avLst/>
          </a:prstGeom>
          <a:solidFill>
            <a:srgbClr val="45D3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519672" y="3584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354787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0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De-risked: built and validated today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1148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deployed tool that already reproduces an expert CDM review to the penny, so the concept is proven, not theoretical.</a:t>
            </a:r>
            <a:endParaRPr lang="en-US" sz="1150" dirty="0"/>
          </a:p>
        </p:txBody>
      </p:sp>
      <p:pic>
        <p:nvPicPr>
          <p:cNvPr id="23" name="Image 0" descr="/tmp/ameli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36208"/>
            <a:ext cx="502920" cy="466344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4572000" y="6419088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6A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Amelior LLC. All rights reserved.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0" y="6419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7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825</Words>
  <Application>Microsoft Office PowerPoint</Application>
  <PresentationFormat>Widescreen</PresentationFormat>
  <Paragraphs>116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kaylee rae</cp:lastModifiedBy>
  <cp:revision>1</cp:revision>
  <dcterms:created xsi:type="dcterms:W3CDTF">2026-08-27T19:24:27Z</dcterms:created>
  <dcterms:modified xsi:type="dcterms:W3CDTF">2026-08-27T19:28:26Z</dcterms:modified>
</cp:coreProperties>
</file>
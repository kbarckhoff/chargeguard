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B8D5A-3982-4D20-9382-375DACFED0BC}" v="1" dt="2026-08-27T19:53:03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ee rae" userId="1b29ab7783d1feb9" providerId="LiveId" clId="{B162316B-4286-42E8-BCBA-F94E5F1F9DA1}"/>
    <pc:docChg chg="custSel modSld">
      <pc:chgData name="kaylee rae" userId="1b29ab7783d1feb9" providerId="LiveId" clId="{B162316B-4286-42E8-BCBA-F94E5F1F9DA1}" dt="2026-08-27T19:52:48.876" v="8" actId="478"/>
      <pc:docMkLst>
        <pc:docMk/>
      </pc:docMkLst>
      <pc:sldChg chg="delSp modSp mod">
        <pc:chgData name="kaylee rae" userId="1b29ab7783d1feb9" providerId="LiveId" clId="{B162316B-4286-42E8-BCBA-F94E5F1F9DA1}" dt="2026-08-27T19:52:48.876" v="8" actId="478"/>
        <pc:sldMkLst>
          <pc:docMk/>
          <pc:sldMk cId="0" sldId="256"/>
        </pc:sldMkLst>
        <pc:spChg chg="del">
          <ac:chgData name="kaylee rae" userId="1b29ab7783d1feb9" providerId="LiveId" clId="{B162316B-4286-42E8-BCBA-F94E5F1F9DA1}" dt="2026-08-27T19:52:39.442" v="5" actId="478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kaylee rae" userId="1b29ab7783d1feb9" providerId="LiveId" clId="{B162316B-4286-42E8-BCBA-F94E5F1F9DA1}" dt="2026-08-27T19:52:48.876" v="8" actId="478"/>
          <ac:spMkLst>
            <pc:docMk/>
            <pc:sldMk cId="0" sldId="256"/>
            <ac:spMk id="26" creationId="{00000000-0000-0000-0000-000000000000}"/>
          </ac:spMkLst>
        </pc:spChg>
      </pc:sldChg>
      <pc:sldChg chg="modSp mod">
        <pc:chgData name="kaylee rae" userId="1b29ab7783d1feb9" providerId="LiveId" clId="{B162316B-4286-42E8-BCBA-F94E5F1F9DA1}" dt="2026-08-27T19:52:30.515" v="4" actId="1036"/>
        <pc:sldMkLst>
          <pc:docMk/>
          <pc:sldMk cId="0" sldId="260"/>
        </pc:sldMkLst>
        <pc:spChg chg="mod">
          <ac:chgData name="kaylee rae" userId="1b29ab7783d1feb9" providerId="LiveId" clId="{B162316B-4286-42E8-BCBA-F94E5F1F9DA1}" dt="2026-08-27T19:52:30.515" v="4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kaylee rae" userId="1b29ab7783d1feb9" providerId="LiveId" clId="{B162316B-4286-42E8-BCBA-F94E5F1F9DA1}" dt="2026-08-27T19:52:30.515" v="4" actId="1036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 at risk / yr</c:v>
                </c:pt>
              </c:strCache>
            </c:strRef>
          </c:tx>
          <c:spPr>
            <a:solidFill>
              <a:srgbClr val="6050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B7-4319-95E6-D5E2F096D933}"/>
              </c:ext>
            </c:extLst>
          </c:dPt>
          <c:dPt>
            <c:idx val="1"/>
            <c:invertIfNegative val="0"/>
            <c:bubble3D val="0"/>
            <c:spPr>
              <a:solidFill>
                <a:srgbClr val="586E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B7-4319-95E6-D5E2F096D933}"/>
              </c:ext>
            </c:extLst>
          </c:dPt>
          <c:dLbls>
            <c:numFmt formatCode="&quot;$&quot;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B4D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HFMA estimate (1%)</c:v>
                </c:pt>
                <c:pt idx="1">
                  <c:v>Industry studies (3–5%)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B7-4319-95E6-D5E2F096D9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4D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23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1812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35440" y="137160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1812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3544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1812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23544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52760" y="2825496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4169664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544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652760" y="4169664"/>
            <a:ext cx="1188720" cy="1188720"/>
          </a:xfrm>
          <a:prstGeom prst="ellipse">
            <a:avLst/>
          </a:prstGeom>
          <a:solidFill>
            <a:srgbClr val="8E7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63656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1812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35440" y="5513832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5276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/tmp/amelior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143000" cy="79552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2514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Chargemaster Review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fld id="{9FF7D96A-BF17-4A2E-BBBE-6255C5615939}" type="datetime2">
              <a:rPr lang="en-US" sz="1200" b="1" smtClean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Thursday, August 27, 2026</a:t>
            </a:fld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in 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every hospital has to repeat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~6,100 U.S. hospitals must review its chargemaster at least once a year, and re-check coding every quarter as CMS updates its rules. The work never finishes.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34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dollars leak between reviews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101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to 5% of net patient revenue is lost to charge-capture and chargemaster errors. On a $500M system that is roughly $5M to $20M a year.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reviews are costly and periodic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7274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outside review runs $50K to $100K for a mid-size hospital and often happens only every two to three years, so errors compound in between.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 turns that costly, every-few-years review into an affordable check a hospital can run every quarter.</a:t>
            </a:r>
            <a:endParaRPr lang="en-US" sz="1250" dirty="0"/>
          </a:p>
        </p:txBody>
      </p:sp>
      <p:pic>
        <p:nvPicPr>
          <p:cNvPr id="17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Chargemaster reviews run on a repeating clock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28016"/>
          </a:xfrm>
          <a:prstGeom prst="roundRect">
            <a:avLst>
              <a:gd name="adj" fmla="val 14286"/>
            </a:avLst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CDM review is the minimum best practice. Every department's charges are reviewed at least once a year.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520440" cy="128016"/>
          </a:xfrm>
          <a:prstGeom prst="roundRect">
            <a:avLst>
              <a:gd name="adj" fmla="val 14286"/>
            </a:avLst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26280" y="1965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432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updates codes and OPPS rules every quarter, so coding is re-audited each quarter to stay compliant.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520440" cy="128016"/>
          </a:xfrm>
          <a:prstGeom prst="roundRect">
            <a:avLst>
              <a:gd name="adj" fmla="val 14286"/>
            </a:avLst>
          </a:prstGeom>
          <a:solidFill>
            <a:srgbClr val="586E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0" y="1965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2–3 yrs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7432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guidance is to bring in an external reviewer for a full independent audit every two to three years.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5800" y="50292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cadence never ends. The chargemaster shifts as clinical practice and CMS rules change, so the review recurs by design, which makes it a natural subscription rather than a one-time project.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6144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AAPC; PMMC; HMI chargemaster maintenance guidance.</a:t>
            </a:r>
            <a:endParaRPr lang="en-US" sz="850" dirty="0"/>
          </a:p>
        </p:txBody>
      </p:sp>
      <p:pic>
        <p:nvPicPr>
          <p:cNvPr id="18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reviews are expensive, and the stakes are high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691640"/>
          <a:ext cx="5943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at risk on a $500M system, per year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766560" y="1691640"/>
            <a:ext cx="4873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94944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$50K–$100K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967728" y="23500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a full chargemaster and revenue review for a mid-size (~200-bed) hospital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3108960"/>
            <a:ext cx="4873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494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2–3 yrs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7728" y="37673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most hospitals actually get a full external review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4526280"/>
            <a:ext cx="4873752" cy="731520"/>
          </a:xfrm>
          <a:prstGeom prst="roundRect">
            <a:avLst>
              <a:gd name="adj" fmla="val 7500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903720" y="45262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high cost, run too rarely. ChargeGuard makes the same review affordable and continuous.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6144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American Healthcare Consulting (review cost); HFMA and industry charge-capture studies.</a:t>
            </a:r>
            <a:endParaRPr lang="en-US" sz="850" dirty="0"/>
          </a:p>
        </p:txBody>
      </p:sp>
      <p:pic>
        <p:nvPicPr>
          <p:cNvPr id="14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serve large systems; the mid-market is open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54480" y="1554480"/>
            <a:ext cx="749808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1554480"/>
            <a:ext cx="0" cy="397764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3543300"/>
            <a:ext cx="749808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5641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Enterprise-only                                        Mid-market fit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1488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9659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3832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3123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331720" y="33123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FinThrive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2860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45D3A1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1228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consultants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81160" y="1554480"/>
            <a:ext cx="2359152" cy="3977640"/>
          </a:xfrm>
          <a:prstGeom prst="roundRect">
            <a:avLst>
              <a:gd name="adj" fmla="val 2326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46404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 space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148840"/>
            <a:ext cx="2057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affordable, repeatable for mid-size hospitals and the RCM consultants who serve them, with peer benchmarking built in.</a:t>
            </a:r>
            <a:endParaRPr lang="en-US" sz="1150" dirty="0"/>
          </a:p>
        </p:txBody>
      </p:sp>
      <p:pic>
        <p:nvPicPr>
          <p:cNvPr id="21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buyers pay today (estimated)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75488"/>
          </a:xfrm>
          <a:prstGeom prst="rect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/ option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37160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41080" y="1371600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cost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8470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Craneware (Trisus)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84708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enterprise suite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18470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~$75K/yr, suite-wide*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091672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24140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Optum (ChargemasterExpert)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4140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quote plus add-ons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414016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Enterprise; not public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5800" y="29809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FinThrive (CDM Management)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9809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into RCM platform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980944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Custom; not public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11091672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354787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Catalyst (VitalCDM)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54787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Custom, enterprise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547872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public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41148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Panacea (ChargeAssist)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4114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all-inclusive annual fee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411480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Mid-market; lowest of the group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81728"/>
            <a:ext cx="11091672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46817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consulting review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46817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engagement, every 2-3 yrs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468172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to $100K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248656"/>
            <a:ext cx="11091672" cy="566928"/>
          </a:xfrm>
          <a:prstGeom prst="rect">
            <a:avLst/>
          </a:prstGeom>
          <a:solidFill>
            <a:srgbClr val="DCF3EB"/>
          </a:solidFill>
          <a:ln w="635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5800" y="52486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524865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Subscription, runs every quarter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641080" y="5248656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well below enterprise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2531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*Derived from Craneware public FY2025 financials (ARR across ~40% of U.S. hospitals). Vendors quote custom, so all figures are directional estimates, not list prices.</a:t>
            </a:r>
            <a:endParaRPr lang="en-US" sz="900" dirty="0"/>
          </a:p>
        </p:txBody>
      </p:sp>
      <p:pic>
        <p:nvPicPr>
          <p:cNvPr id="36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ChargeGuard does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compliance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Retired codes, packaging, pass-through, modifiers, revenue-code errors, all tied to CMS rules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73952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73952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&amp; devices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 and unit mismatches, billing-unit errors, device-to-procedure crosswalks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peer benchmark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vs Medicare, plus your price vs competitors from public transparency files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73952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transparency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837 charge-capture checks and the CMS shoppable-services requirements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is tied to a dollar figure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8920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is ranked by severity and estimated financial impact, with the CMS rule or peer benchmark behind it, so a client can see exactly where money is being left on the table.</a:t>
            </a:r>
            <a:endParaRPr lang="en-US" sz="1250" dirty="0"/>
          </a:p>
        </p:txBody>
      </p:sp>
      <p:pic>
        <p:nvPicPr>
          <p:cNvPr id="26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facility profile and choose the peer hospitals to benchmark against.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15184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61488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93008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93008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CDM, revenue usage, formulary, claims (837), and peer price files.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974336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05856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705856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detected columns and code mappings before the scan runs.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187184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18704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918704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engine checks every line against current CMS reference data.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400032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31552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131552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564624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issues with dollar impact, peer benchmark, and an Excel export.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every quarter. Each scan re-checks the CDM against the latest CMS rules and shows exactly what changed.</a:t>
            </a:r>
            <a:endParaRPr lang="en-US" sz="1250" dirty="0"/>
          </a:p>
        </p:txBody>
      </p:sp>
      <p:pic>
        <p:nvPicPr>
          <p:cNvPr id="34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fits Neuriphy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709928"/>
            <a:ext cx="530352" cy="53035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09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73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recurring, high-margin product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with self-refreshing CMS data: low cost to serve, quarterly re-scans, and revenue that compounds client over client.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19672" y="1709928"/>
            <a:ext cx="530352" cy="53035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19672" y="1709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673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a hospital / revenue-cycle footprint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slots alongside existing hospital or RCM relationships as a fast, affordable add-on, not a competing enterprise platform.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584448"/>
            <a:ext cx="530352" cy="53035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58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 channel play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14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it as the engine behind consulting engagements, or direct to mid-market hospitals, then land-and-expand into monitoring and peer benchmarking.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32918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9672" y="3584448"/>
            <a:ext cx="530352" cy="53035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19672" y="358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De-risked: built and validated today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114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deployed tool that already reproduces an expert CDM review to the penny, so the concept is proven, not theoretical.</a:t>
            </a:r>
            <a:endParaRPr lang="en-US" sz="1150" dirty="0"/>
          </a:p>
        </p:txBody>
      </p:sp>
      <p:pic>
        <p:nvPicPr>
          <p:cNvPr id="23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963</Words>
  <Application>Microsoft Office PowerPoint</Application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kaylee rae</cp:lastModifiedBy>
  <cp:revision>1</cp:revision>
  <dcterms:created xsi:type="dcterms:W3CDTF">2026-08-27T19:44:31Z</dcterms:created>
  <dcterms:modified xsi:type="dcterms:W3CDTF">2026-08-27T19:53:06Z</dcterms:modified>
</cp:coreProperties>
</file>
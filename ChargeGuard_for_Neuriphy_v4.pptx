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01_0.xml" ContentType="application/vnd.ms-powerpoint.comments+xml"/>
  <Override PartName="/ppt/notesSlides/notesSlide3.xml" ContentType="application/vnd.openxmlformats-officedocument.presentationml.notesSlide+xml"/>
  <Override PartName="/ppt/comments/modernComment_102_0.xml" ContentType="application/vnd.ms-powerpoint.comments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omments/modernComment_104_0.xml" ContentType="application/vnd.ms-powerpoint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omments/modernComment_108_0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4ED254F-B995-FE4F-A425-AFDFFD5D090D}" name="Valerie Barckhoff" initials="VB" userId="S::valerie@the6qd.com::7b92a53f-b9b0-4417-9253-af4ebf02196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DB8D5A-3982-4D20-9382-375DACFED0BC}" v="1" dt="2026-08-27T19:53:03.716"/>
    <p1510:client id="{B7134BD9-2BAC-660A-84FF-5D4CD85206D8}" v="5" dt="2026-08-28T00:22:07.1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90" autoAdjust="0"/>
    <p:restoredTop sz="94610"/>
  </p:normalViewPr>
  <p:slideViewPr>
    <p:cSldViewPr snapToGrid="0" snapToObjects="1">
      <p:cViewPr>
        <p:scale>
          <a:sx n="68" d="100"/>
          <a:sy n="68" d="100"/>
        </p:scale>
        <p:origin x="306" y="7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ylee rae" userId="1b29ab7783d1feb9" providerId="LiveId" clId="{B162316B-4286-42E8-BCBA-F94E5F1F9DA1}"/>
    <pc:docChg chg="undo custSel modSld">
      <pc:chgData name="kaylee rae" userId="1b29ab7783d1feb9" providerId="LiveId" clId="{B162316B-4286-42E8-BCBA-F94E5F1F9DA1}" dt="2026-08-28T14:23:49.141" v="41" actId="1035"/>
      <pc:docMkLst>
        <pc:docMk/>
      </pc:docMkLst>
      <pc:sldChg chg="modSp mod">
        <pc:chgData name="kaylee rae" userId="1b29ab7783d1feb9" providerId="LiveId" clId="{B162316B-4286-42E8-BCBA-F94E5F1F9DA1}" dt="2026-08-28T14:12:24.992" v="36" actId="14100"/>
        <pc:sldMkLst>
          <pc:docMk/>
          <pc:sldMk cId="0" sldId="258"/>
        </pc:sldMkLst>
        <pc:spChg chg="mod">
          <ac:chgData name="kaylee rae" userId="1b29ab7783d1feb9" providerId="LiveId" clId="{B162316B-4286-42E8-BCBA-F94E5F1F9DA1}" dt="2026-08-28T13:58:11.178" v="35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kaylee rae" userId="1b29ab7783d1feb9" providerId="LiveId" clId="{B162316B-4286-42E8-BCBA-F94E5F1F9DA1}" dt="2026-08-28T13:58:03.598" v="32" actId="1076"/>
          <ac:spMkLst>
            <pc:docMk/>
            <pc:sldMk cId="0" sldId="258"/>
            <ac:spMk id="9" creationId="{00000000-0000-0000-0000-000000000000}"/>
          </ac:spMkLst>
        </pc:spChg>
        <pc:spChg chg="mod">
          <ac:chgData name="kaylee rae" userId="1b29ab7783d1feb9" providerId="LiveId" clId="{B162316B-4286-42E8-BCBA-F94E5F1F9DA1}" dt="2026-08-28T13:57:39.944" v="26" actId="14100"/>
          <ac:spMkLst>
            <pc:docMk/>
            <pc:sldMk cId="0" sldId="258"/>
            <ac:spMk id="11" creationId="{00000000-0000-0000-0000-000000000000}"/>
          </ac:spMkLst>
        </pc:spChg>
        <pc:spChg chg="mod">
          <ac:chgData name="kaylee rae" userId="1b29ab7783d1feb9" providerId="LiveId" clId="{B162316B-4286-42E8-BCBA-F94E5F1F9DA1}" dt="2026-08-28T13:57:47.704" v="29" actId="107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kaylee rae" userId="1b29ab7783d1feb9" providerId="LiveId" clId="{B162316B-4286-42E8-BCBA-F94E5F1F9DA1}" dt="2026-08-28T13:57:28.311" v="22" actId="122"/>
          <ac:spMkLst>
            <pc:docMk/>
            <pc:sldMk cId="0" sldId="258"/>
            <ac:spMk id="22" creationId="{542B451C-0F5B-9316-E643-CCFF7320D4EB}"/>
          </ac:spMkLst>
        </pc:spChg>
        <pc:spChg chg="mod">
          <ac:chgData name="kaylee rae" userId="1b29ab7783d1feb9" providerId="LiveId" clId="{B162316B-4286-42E8-BCBA-F94E5F1F9DA1}" dt="2026-08-28T14:12:24.992" v="36" actId="14100"/>
          <ac:spMkLst>
            <pc:docMk/>
            <pc:sldMk cId="0" sldId="258"/>
            <ac:spMk id="24" creationId="{393BEB0F-0E1C-8CD0-998A-F5053BFB24A1}"/>
          </ac:spMkLst>
        </pc:spChg>
        <pc:spChg chg="mod">
          <ac:chgData name="kaylee rae" userId="1b29ab7783d1feb9" providerId="LiveId" clId="{B162316B-4286-42E8-BCBA-F94E5F1F9DA1}" dt="2026-08-28T13:57:28.311" v="22" actId="122"/>
          <ac:spMkLst>
            <pc:docMk/>
            <pc:sldMk cId="0" sldId="258"/>
            <ac:spMk id="26" creationId="{BE2D6920-20DF-A754-05F3-9E3E63638747}"/>
          </ac:spMkLst>
        </pc:spChg>
      </pc:sldChg>
      <pc:sldChg chg="modSp mod">
        <pc:chgData name="kaylee rae" userId="1b29ab7783d1feb9" providerId="LiveId" clId="{B162316B-4286-42E8-BCBA-F94E5F1F9DA1}" dt="2026-08-28T14:23:49.141" v="41" actId="1035"/>
        <pc:sldMkLst>
          <pc:docMk/>
          <pc:sldMk cId="0" sldId="261"/>
        </pc:sldMkLst>
        <pc:spChg chg="mod">
          <ac:chgData name="kaylee rae" userId="1b29ab7783d1feb9" providerId="LiveId" clId="{B162316B-4286-42E8-BCBA-F94E5F1F9DA1}" dt="2026-08-28T14:23:49.141" v="41" actId="1035"/>
          <ac:spMkLst>
            <pc:docMk/>
            <pc:sldMk cId="0" sldId="261"/>
            <ac:spMk id="35" creationId="{00000000-0000-0000-0000-000000000000}"/>
          </ac:spMkLst>
        </pc:spChg>
      </pc:sldChg>
      <pc:sldChg chg="modSp mod">
        <pc:chgData name="kaylee rae" userId="1b29ab7783d1feb9" providerId="LiveId" clId="{B162316B-4286-42E8-BCBA-F94E5F1F9DA1}" dt="2026-08-28T13:56:01.572" v="17" actId="403"/>
        <pc:sldMkLst>
          <pc:docMk/>
          <pc:sldMk cId="0" sldId="263"/>
        </pc:sldMkLst>
        <pc:spChg chg="mod ord">
          <ac:chgData name="kaylee rae" userId="1b29ab7783d1feb9" providerId="LiveId" clId="{B162316B-4286-42E8-BCBA-F94E5F1F9DA1}" dt="2026-08-28T13:56:01.572" v="17" actId="403"/>
          <ac:spMkLst>
            <pc:docMk/>
            <pc:sldMk cId="0" sldId="263"/>
            <ac:spMk id="8" creationId="{00000000-0000-0000-0000-000000000000}"/>
          </ac:spMkLst>
        </pc:spChg>
        <pc:spChg chg="mod ord">
          <ac:chgData name="kaylee rae" userId="1b29ab7783d1feb9" providerId="LiveId" clId="{B162316B-4286-42E8-BCBA-F94E5F1F9DA1}" dt="2026-08-28T13:55:55.894" v="16" actId="403"/>
          <ac:spMkLst>
            <pc:docMk/>
            <pc:sldMk cId="0" sldId="263"/>
            <ac:spMk id="14" creationId="{00000000-0000-0000-0000-000000000000}"/>
          </ac:spMkLst>
        </pc:spChg>
        <pc:spChg chg="mod ord">
          <ac:chgData name="kaylee rae" userId="1b29ab7783d1feb9" providerId="LiveId" clId="{B162316B-4286-42E8-BCBA-F94E5F1F9DA1}" dt="2026-08-28T13:55:55.894" v="16" actId="403"/>
          <ac:spMkLst>
            <pc:docMk/>
            <pc:sldMk cId="0" sldId="263"/>
            <ac:spMk id="20" creationId="{00000000-0000-0000-0000-000000000000}"/>
          </ac:spMkLst>
        </pc:spChg>
        <pc:spChg chg="mod ord">
          <ac:chgData name="kaylee rae" userId="1b29ab7783d1feb9" providerId="LiveId" clId="{B162316B-4286-42E8-BCBA-F94E5F1F9DA1}" dt="2026-08-28T13:55:55.894" v="16" actId="403"/>
          <ac:spMkLst>
            <pc:docMk/>
            <pc:sldMk cId="0" sldId="263"/>
            <ac:spMk id="26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$M at risk / yr</c:v>
                </c:pt>
              </c:strCache>
            </c:strRef>
          </c:tx>
          <c:spPr>
            <a:solidFill>
              <a:srgbClr val="60507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EB7-4319-95E6-D5E2F096D933}"/>
              </c:ext>
            </c:extLst>
          </c:dPt>
          <c:dPt>
            <c:idx val="1"/>
            <c:invertIfNegative val="0"/>
            <c:bubble3D val="0"/>
            <c:spPr>
              <a:solidFill>
                <a:srgbClr val="586E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EB7-4319-95E6-D5E2F096D933}"/>
              </c:ext>
            </c:extLst>
          </c:dPt>
          <c:dLbls>
            <c:numFmt formatCode="&quot;$&quot;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4B4D4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HFMA estimate (1%)</c:v>
                </c:pt>
                <c:pt idx="1">
                  <c:v>Industry studies (3–5%)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EB7-4319-95E6-D5E2F096D93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4D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omments/modernComment_101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7B5F92D-44DB-4E0F-AB7A-4B284F732002}" authorId="{44ED254F-B995-FE4F-A425-AFDFFD5D090D}" status="resolved" created="2026-08-28T00:10:40.490" complete="100000">
    <pc:sldMkLst xmlns:pc="http://schemas.microsoft.com/office/powerpoint/2013/main/command">
      <pc:docMk/>
      <pc:sldMk cId="0" sldId="257"/>
    </pc:sldMkLst>
    <p188:txBody>
      <a:bodyPr/>
      <a:lstStyle/>
      <a:p>
        <a:r>
          <a:rPr lang="en-US"/>
          <a:t>I would incorporate that not only does failure to conduct regular reviews of a CDM lead to revenue leakage but also could lead to compliance issues.</a:t>
        </a:r>
      </a:p>
    </p188:txBody>
  </p188:cm>
</p188:cmLst>
</file>

<file path=ppt/comments/modernComment_102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8D1A231-6991-4486-8EB0-F0DED8CE4AF5}" authorId="{44ED254F-B995-FE4F-A425-AFDFFD5D090D}" status="resolved" created="2026-08-28T00:12:09.478" complete="100000">
    <pc:sldMkLst xmlns:pc="http://schemas.microsoft.com/office/powerpoint/2013/main/command">
      <pc:docMk/>
      <pc:sldMk cId="0" sldId="258"/>
    </pc:sldMkLst>
    <p188:txBody>
      <a:bodyPr/>
      <a:lstStyle/>
      <a:p>
        <a:r>
          <a:rPr lang="en-US"/>
          <a:t>I think another thing to add is that the chargemaster is a dynamic document. As providers are onboarded, new services offered, or new rules are published, the CDM must be constantly monitored to ensure correct coding. </a:t>
        </a:r>
      </a:p>
    </p188:txBody>
  </p188:cm>
</p188:cmLst>
</file>

<file path=ppt/comments/modernComment_104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BFE2851-9F02-436F-964A-3B5B00668957}" authorId="{44ED254F-B995-FE4F-A425-AFDFFD5D090D}" status="resolved" created="2026-08-28T00:13:56.717" complete="100000">
    <pc:sldMkLst xmlns:pc="http://schemas.microsoft.com/office/powerpoint/2013/main/command">
      <pc:docMk/>
      <pc:sldMk cId="0" sldId="260"/>
    </pc:sldMkLst>
    <p188:txBody>
      <a:bodyPr/>
      <a:lstStyle/>
      <a:p>
        <a:r>
          <a:rPr lang="en-US"/>
          <a:t>Somewhere we should mention that larger health systems typically have a dedicated CDM analyst. Where hospitals that are &lt;$2billion in net revenue often add this to a finance professional. And, in smaller rural hospitals, it's not unusual for the CFO to be in charge of the CDM. </a:t>
        </a:r>
      </a:p>
    </p188:txBody>
  </p188:cm>
</p188:cmLst>
</file>

<file path=ppt/comments/modernComment_108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C3792DA-DCCE-4BA1-A195-E39567C0A6FB}" authorId="{44ED254F-B995-FE4F-A425-AFDFFD5D090D}" status="resolved" created="2026-08-28T00:22:07.110" complete="100000">
    <pc:sldMkLst xmlns:pc="http://schemas.microsoft.com/office/powerpoint/2013/main/command">
      <pc:docMk/>
      <pc:sldMk cId="0" sldId="264"/>
    </pc:sldMkLst>
    <p188:txBody>
      <a:bodyPr/>
      <a:lstStyle/>
      <a:p>
        <a:r>
          <a:rPr lang="en-US"/>
          <a:t>Let's add another benefit. Incorporating a CDM tool would let Neuriphy prevent a whole class of denials at their root — outdated codes, bad modifiers, and mispriced charge lines — rather than just appealing them after the fact.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9237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1_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2_0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4_0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8_0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137160"/>
            <a:ext cx="1188720" cy="118872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818120" y="137160"/>
            <a:ext cx="1188720" cy="118872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235440" y="137160"/>
            <a:ext cx="1188720" cy="1188720"/>
          </a:xfrm>
          <a:prstGeom prst="ellipse">
            <a:avLst/>
          </a:prstGeom>
          <a:solidFill>
            <a:srgbClr val="DCF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652760" y="137160"/>
            <a:ext cx="1188720" cy="118872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0" y="1481328"/>
            <a:ext cx="1188720" cy="1188720"/>
          </a:xfrm>
          <a:prstGeom prst="ellipse">
            <a:avLst/>
          </a:prstGeom>
          <a:solidFill>
            <a:srgbClr val="DCF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818120" y="1481328"/>
            <a:ext cx="1188720" cy="118872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235440" y="1481328"/>
            <a:ext cx="1188720" cy="118872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652760" y="1481328"/>
            <a:ext cx="1188720" cy="1188720"/>
          </a:xfrm>
          <a:prstGeom prst="ellipse">
            <a:avLst/>
          </a:prstGeom>
          <a:solidFill>
            <a:srgbClr val="DCF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0" y="2825496"/>
            <a:ext cx="1188720" cy="118872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818120" y="2825496"/>
            <a:ext cx="1188720" cy="118872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235440" y="2825496"/>
            <a:ext cx="1188720" cy="118872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652760" y="2825496"/>
            <a:ext cx="1188720" cy="1188720"/>
          </a:xfrm>
          <a:prstGeom prst="ellipse">
            <a:avLst/>
          </a:prstGeom>
          <a:solidFill>
            <a:srgbClr val="DCF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00800" y="4169664"/>
            <a:ext cx="1188720" cy="118872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818120" y="4169664"/>
            <a:ext cx="1188720" cy="1188720"/>
          </a:xfrm>
          <a:prstGeom prst="ellipse">
            <a:avLst/>
          </a:prstGeom>
          <a:solidFill>
            <a:srgbClr val="DCF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235440" y="4169664"/>
            <a:ext cx="1188720" cy="118872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652760" y="4169664"/>
            <a:ext cx="1188720" cy="1188720"/>
          </a:xfrm>
          <a:prstGeom prst="ellipse">
            <a:avLst/>
          </a:prstGeom>
          <a:solidFill>
            <a:srgbClr val="8E7B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963656" y="448056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00800" y="5513832"/>
            <a:ext cx="1188720" cy="118872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818120" y="5513832"/>
            <a:ext cx="1188720" cy="118872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235440" y="5513832"/>
            <a:ext cx="1188720" cy="1188720"/>
          </a:xfrm>
          <a:prstGeom prst="ellipse">
            <a:avLst/>
          </a:prstGeom>
          <a:solidFill>
            <a:srgbClr val="DCF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652760" y="5513832"/>
            <a:ext cx="1188720" cy="118872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0" descr="/tmp/amelior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1143000" cy="795528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548640" y="251460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586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Chargemaster Review</a:t>
            </a:r>
            <a:endParaRPr lang="en-US" sz="4000" dirty="0"/>
          </a:p>
        </p:txBody>
      </p:sp>
      <p:sp>
        <p:nvSpPr>
          <p:cNvPr id="27" name="Text 24"/>
          <p:cNvSpPr txBox="1"/>
          <p:nvPr/>
        </p:nvSpPr>
        <p:spPr>
          <a:xfrm>
            <a:off x="566928" y="58064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fld id="{9FF7D96A-BF17-4A2E-BBBE-6255C5615939}" type="datetime2">
              <a:rPr lang="en-US" sz="1200" b="1" smtClean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Friday, August 28, 2026</a:t>
            </a:fld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in brief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66928" cy="566928"/>
          </a:xfrm>
          <a:prstGeom prst="ellipse">
            <a:avLst/>
          </a:prstGeom>
          <a:solidFill>
            <a:srgbClr val="6050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417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review every hospital has to repeat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85547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of ~6,100 U.S. hospitals must review its chargemaster at least once a year, and re-check coding every quarter as CMS updates its rules. The work never finishes.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706936"/>
            <a:ext cx="566928" cy="566928"/>
          </a:xfrm>
          <a:prstGeom prst="ellipse">
            <a:avLst/>
          </a:prstGeom>
          <a:solidFill>
            <a:srgbClr val="6050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48640" y="2690787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66121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dollars leak between reviews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013733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 to 5% of net patient revenue is lost to charge-capture and chargemaster errors. On a $500M system that is roughly $5M to $20M a year.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919301"/>
            <a:ext cx="566928" cy="566928"/>
          </a:xfrm>
          <a:prstGeom prst="ellipse">
            <a:avLst/>
          </a:prstGeom>
          <a:solidFill>
            <a:srgbClr val="6050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48640" y="391853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873581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reviews are costly and periodic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253387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 outside review runs $50K to $100K for a mid-size hospital and often happens only every two to three years, so errors compound in between.</a:t>
            </a:r>
            <a:endParaRPr lang="en-US" sz="1350" dirty="0"/>
          </a:p>
        </p:txBody>
      </p:sp>
      <p:pic>
        <p:nvPicPr>
          <p:cNvPr id="17" name="Image 0" descr="/tmp/amelior_f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236208"/>
            <a:ext cx="502920" cy="4663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4572000" y="6419088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6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Amelior LLC. All rights reserved.</a:t>
            </a:r>
            <a:endParaRPr lang="en-US" sz="80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0" y="64190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AF8DCB92-96F0-5506-691C-FAC520C87085}"/>
              </a:ext>
            </a:extLst>
          </p:cNvPr>
          <p:cNvSpPr/>
          <p:nvPr/>
        </p:nvSpPr>
        <p:spPr>
          <a:xfrm>
            <a:off x="548640" y="5146282"/>
            <a:ext cx="566928" cy="566928"/>
          </a:xfrm>
          <a:prstGeom prst="ellipse">
            <a:avLst/>
          </a:prstGeom>
          <a:solidFill>
            <a:srgbClr val="6050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1AEB285B-5AF8-D2B3-EC66-FC9FCEF1445E}"/>
              </a:ext>
            </a:extLst>
          </p:cNvPr>
          <p:cNvSpPr txBox="1"/>
          <p:nvPr/>
        </p:nvSpPr>
        <p:spPr>
          <a:xfrm>
            <a:off x="548640" y="514628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A39B5CA8-CF39-E09E-2593-1E7E3B2614FF}"/>
              </a:ext>
            </a:extLst>
          </p:cNvPr>
          <p:cNvSpPr txBox="1"/>
          <p:nvPr/>
        </p:nvSpPr>
        <p:spPr>
          <a:xfrm>
            <a:off x="1325880" y="510056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risk is compliance, not just revenue</a:t>
            </a:r>
            <a:endParaRPr lang="en-US" sz="1700" dirty="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D0DBFDB4-D7A9-5093-5ADC-24A19B66BC74}"/>
              </a:ext>
            </a:extLst>
          </p:cNvPr>
          <p:cNvSpPr txBox="1"/>
          <p:nvPr/>
        </p:nvSpPr>
        <p:spPr>
          <a:xfrm>
            <a:off x="1325880" y="5480473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Retired codes, wrong modifiers, and mispriced lines create overbilling and audit exposure, so an outdated chargemaster becomes a compliance liability.</a:t>
            </a:r>
            <a:endParaRPr lang="en-US" sz="135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Chargemaster reviews run on a repeating clock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56032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1" y="1554480"/>
            <a:ext cx="2560320" cy="137160"/>
          </a:xfrm>
          <a:prstGeom prst="roundRect">
            <a:avLst>
              <a:gd name="adj" fmla="val 14286"/>
            </a:avLst>
          </a:prstGeom>
          <a:solidFill>
            <a:srgbClr val="6050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84178" y="1954306"/>
            <a:ext cx="18892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Annually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1" y="2743200"/>
            <a:ext cx="206633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 CDM review is the minimum best practice. Every department's charges are reviewed at least once a year.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26766" y="1548205"/>
            <a:ext cx="256032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26766" y="1548205"/>
            <a:ext cx="2560320" cy="137160"/>
          </a:xfrm>
          <a:prstGeom prst="roundRect">
            <a:avLst>
              <a:gd name="adj" fmla="val 14286"/>
            </a:avLst>
          </a:prstGeom>
          <a:solidFill>
            <a:srgbClr val="45D3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673757" y="1959685"/>
            <a:ext cx="2066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5D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701087" y="2736925"/>
            <a:ext cx="206633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CMS updates codes and OPPS rules every quarter, so coding is re-audited each quarter to stay compliant.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4881" y="1566134"/>
            <a:ext cx="256032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64881" y="1566134"/>
            <a:ext cx="2560320" cy="137160"/>
          </a:xfrm>
          <a:prstGeom prst="roundRect">
            <a:avLst>
              <a:gd name="adj" fmla="val 14286"/>
            </a:avLst>
          </a:prstGeom>
          <a:solidFill>
            <a:srgbClr val="586E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539201" y="1959685"/>
            <a:ext cx="2066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86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2–3 yrs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539202" y="2754854"/>
            <a:ext cx="206633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guidance is to bring in an external reviewer for a full independent audit every two to three years.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029200"/>
            <a:ext cx="11091672" cy="658368"/>
          </a:xfrm>
          <a:prstGeom prst="roundRect">
            <a:avLst>
              <a:gd name="adj" fmla="val 8333"/>
            </a:avLst>
          </a:prstGeom>
          <a:solidFill>
            <a:srgbClr val="DCF3EB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85800" y="502920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cadence never ends. The chargemaster shifts as clinical practice and CMS rules change, so the review recurs by design, which makes it a natural subscription rather than a one-time project.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6144768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6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AAPC; PMMC; HMI chargemaster maintenance guidance.</a:t>
            </a:r>
            <a:endParaRPr lang="en-US" sz="850" dirty="0"/>
          </a:p>
        </p:txBody>
      </p:sp>
      <p:pic>
        <p:nvPicPr>
          <p:cNvPr id="18" name="Image 0" descr="/tmp/amelior_f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236208"/>
            <a:ext cx="502920" cy="466344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4572000" y="6419088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6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Amelior LLC. All rights reserved.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0" y="64190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542B451C-0F5B-9316-E643-CCFF7320D4EB}"/>
              </a:ext>
            </a:extLst>
          </p:cNvPr>
          <p:cNvSpPr/>
          <p:nvPr/>
        </p:nvSpPr>
        <p:spPr>
          <a:xfrm>
            <a:off x="9089342" y="1548205"/>
            <a:ext cx="256032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393BEB0F-0E1C-8CD0-998A-F5053BFB24A1}"/>
              </a:ext>
            </a:extLst>
          </p:cNvPr>
          <p:cNvSpPr/>
          <p:nvPr/>
        </p:nvSpPr>
        <p:spPr>
          <a:xfrm>
            <a:off x="9089343" y="1548205"/>
            <a:ext cx="2560320" cy="130885"/>
          </a:xfrm>
          <a:prstGeom prst="roundRect">
            <a:avLst>
              <a:gd name="adj" fmla="val 14286"/>
            </a:avLst>
          </a:prstGeom>
          <a:solidFill>
            <a:schemeClr val="bg1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BE2D6920-20DF-A754-05F3-9E3E63638747}"/>
              </a:ext>
            </a:extLst>
          </p:cNvPr>
          <p:cNvSpPr txBox="1"/>
          <p:nvPr/>
        </p:nvSpPr>
        <p:spPr>
          <a:xfrm>
            <a:off x="9336333" y="1959685"/>
            <a:ext cx="2066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</a:t>
            </a:r>
            <a:endParaRPr lang="en-US"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94D10503-0370-9A06-8980-D3F197E7BE95}"/>
              </a:ext>
            </a:extLst>
          </p:cNvPr>
          <p:cNvSpPr txBox="1"/>
          <p:nvPr/>
        </p:nvSpPr>
        <p:spPr>
          <a:xfrm>
            <a:off x="9363663" y="2736925"/>
            <a:ext cx="206633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/>
              <a:t>The CDM is a living document. As providers are onboarded, new services are added, and new rules are published, it has to be monitored constantly.</a:t>
            </a:r>
            <a:endParaRPr lang="en-US" sz="13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Those reviews are expensive, and the stakes are high</a:t>
            </a:r>
            <a:endParaRPr lang="en-US" sz="2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691640"/>
          <a:ext cx="59436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2578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revenue at risk on a $500M system, per year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766560" y="1691640"/>
            <a:ext cx="4873752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6949440" y="18288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$50K–$100K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967728" y="235000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of a full chargemaster and revenue review for a mid-size (~200-bed) hospital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766560" y="3108960"/>
            <a:ext cx="4873752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6949440" y="32461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86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2–3 yrs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6967728" y="376732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often most hospitals actually get a full external review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766560" y="4526280"/>
            <a:ext cx="4873752" cy="731520"/>
          </a:xfrm>
          <a:prstGeom prst="roundRect">
            <a:avLst>
              <a:gd name="adj" fmla="val 7500"/>
            </a:avLst>
          </a:prstGeom>
          <a:solidFill>
            <a:srgbClr val="DCF3EB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6903720" y="452628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gap: high cost, run too rarely. ChargeGuard makes the same review affordable and continuous.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234440" y="6144768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6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American Healthcare Consulting (review cost); HFMA and industry charge-capture studies.</a:t>
            </a:r>
            <a:endParaRPr lang="en-US" sz="850" dirty="0"/>
          </a:p>
        </p:txBody>
      </p:sp>
      <p:pic>
        <p:nvPicPr>
          <p:cNvPr id="14" name="Image 0" descr="/tmp/amelior_f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236208"/>
            <a:ext cx="502920" cy="4663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72000" y="6419088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6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Amelior LLC. All rights reserved.</a:t>
            </a:r>
            <a:endParaRPr lang="en-US" sz="800" dirty="0"/>
          </a:p>
        </p:txBody>
      </p:sp>
      <p:sp>
        <p:nvSpPr>
          <p:cNvPr id="16" name="Text 12"/>
          <p:cNvSpPr txBox="1"/>
          <p:nvPr/>
        </p:nvSpPr>
        <p:spPr>
          <a:xfrm>
            <a:off x="11430000" y="64190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Incumbents serve large systems; the mid-market is open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554480" y="1554480"/>
            <a:ext cx="7498080" cy="3977640"/>
          </a:xfrm>
          <a:prstGeom prst="rect">
            <a:avLst/>
          </a:prstGeom>
          <a:solidFill>
            <a:srgbClr val="F5F5F5"/>
          </a:solidFill>
          <a:ln w="12700">
            <a:solidFill>
              <a:srgbClr val="E4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303520" y="1554480"/>
            <a:ext cx="0" cy="3977640"/>
          </a:xfrm>
          <a:prstGeom prst="line">
            <a:avLst/>
          </a:prstGeom>
          <a:noFill/>
          <a:ln w="12700">
            <a:solidFill>
              <a:srgbClr val="E4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54480" y="3543300"/>
            <a:ext cx="7498080" cy="0"/>
          </a:xfrm>
          <a:prstGeom prst="line">
            <a:avLst/>
          </a:prstGeom>
          <a:noFill/>
          <a:ln w="12700">
            <a:solidFill>
              <a:srgbClr val="E4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affordable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84632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costly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564184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Enterprise-only                                        Mid-market fit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65960" y="214884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60507E"/>
          </a:solidFill>
          <a:ln/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965960" y="2148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Craneware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274320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60507E"/>
          </a:solidFill>
          <a:ln/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383280" y="2743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Optum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31720" y="331238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60507E"/>
          </a:solidFill>
          <a:ln/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2331720" y="33123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FinThrive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12280" y="228600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45D3A1"/>
          </a:solidFill>
          <a:ln/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812280" y="22860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ChargeGuard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874520" y="4617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consultants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281160" y="3616487"/>
            <a:ext cx="2377440" cy="1920240"/>
          </a:xfrm>
          <a:prstGeom prst="roundRect">
            <a:avLst>
              <a:gd name="adj" fmla="val 2326"/>
            </a:avLst>
          </a:prstGeom>
          <a:solidFill>
            <a:srgbClr val="DCF3EB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9451848" y="3776989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white space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9441180" y="4344092"/>
            <a:ext cx="2057400" cy="1004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Fast, affordable, repeatable for mid-size hospitals and the RCM consultants who serve them, with peer benchmarking built in.</a:t>
            </a:r>
            <a:endParaRPr lang="en-US" sz="1150" dirty="0"/>
          </a:p>
        </p:txBody>
      </p:sp>
      <p:pic>
        <p:nvPicPr>
          <p:cNvPr id="21" name="Image 0" descr="/tmp/amelior_f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236208"/>
            <a:ext cx="502920" cy="466344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4572000" y="6419088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6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Amelior LLC. All rights reserved.</a:t>
            </a:r>
            <a:endParaRPr lang="en-US" sz="800" dirty="0"/>
          </a:p>
        </p:txBody>
      </p:sp>
      <p:sp>
        <p:nvSpPr>
          <p:cNvPr id="23" name="Text 20"/>
          <p:cNvSpPr txBox="1"/>
          <p:nvPr/>
        </p:nvSpPr>
        <p:spPr>
          <a:xfrm>
            <a:off x="11430000" y="64190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Shape 16">
            <a:extLst>
              <a:ext uri="{FF2B5EF4-FFF2-40B4-BE49-F238E27FC236}">
                <a16:creationId xmlns:a16="http://schemas.microsoft.com/office/drawing/2014/main" id="{AEFE8465-1703-5802-DC35-3DDE9950C6F7}"/>
              </a:ext>
            </a:extLst>
          </p:cNvPr>
          <p:cNvSpPr/>
          <p:nvPr/>
        </p:nvSpPr>
        <p:spPr>
          <a:xfrm>
            <a:off x="9268968" y="1540625"/>
            <a:ext cx="2377440" cy="1920240"/>
          </a:xfrm>
          <a:prstGeom prst="roundRect">
            <a:avLst>
              <a:gd name="adj" fmla="val 2326"/>
            </a:avLst>
          </a:prstGeom>
          <a:solidFill>
            <a:srgbClr val="DCF3EB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8087347F-980C-745A-301C-9B182173FE95}"/>
              </a:ext>
            </a:extLst>
          </p:cNvPr>
          <p:cNvSpPr txBox="1"/>
          <p:nvPr/>
        </p:nvSpPr>
        <p:spPr>
          <a:xfrm>
            <a:off x="9451848" y="1751733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owns the CDM depends on size</a:t>
            </a:r>
            <a:endParaRPr lang="en-US" sz="1250" dirty="0"/>
          </a:p>
        </p:txBody>
      </p:sp>
      <p:sp>
        <p:nvSpPr>
          <p:cNvPr id="29" name="Text 18">
            <a:extLst>
              <a:ext uri="{FF2B5EF4-FFF2-40B4-BE49-F238E27FC236}">
                <a16:creationId xmlns:a16="http://schemas.microsoft.com/office/drawing/2014/main" id="{C3D041FE-B7D7-83BA-E185-4688EF3080D1}"/>
              </a:ext>
            </a:extLst>
          </p:cNvPr>
          <p:cNvSpPr txBox="1"/>
          <p:nvPr/>
        </p:nvSpPr>
        <p:spPr>
          <a:xfrm>
            <a:off x="9451848" y="2283295"/>
            <a:ext cx="2057400" cy="1004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/>
              <a:t>Large systems have a dedicated CDM analyst. Under $2B in net revenue it falls to a finance professional. The buyers with the least bandwidth and no enterprise tool.</a:t>
            </a:r>
            <a:endParaRPr lang="en-US" sz="115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buyers pay today (estimated)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91672" cy="475488"/>
          </a:xfrm>
          <a:prstGeom prst="rect">
            <a:avLst/>
          </a:prstGeom>
          <a:solidFill>
            <a:srgbClr val="6050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/ option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931920" y="1371600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model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41080" y="1371600"/>
            <a:ext cx="2953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annual cost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847088"/>
            <a:ext cx="110916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85800" y="184708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Craneware (Trisus)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1847088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Custom, enterprise suite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641080" y="1847088"/>
            <a:ext cx="2953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~$75K/yr, suite-wide*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414016"/>
            <a:ext cx="11091672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E4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85800" y="241401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Optum (ChargemasterExpert)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2414016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quote plus add-ons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641080" y="2414016"/>
            <a:ext cx="2953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Enterprise; not public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980944"/>
            <a:ext cx="110916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85800" y="2980944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FinThrive (CDM Management)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931920" y="2980944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Bundled into RCM platform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641080" y="2980944"/>
            <a:ext cx="2953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Custom; not public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547872"/>
            <a:ext cx="11091672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E4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85800" y="3547872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Catalyst (VitalCDM)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3931920" y="3547872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Custom, enterprise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641080" y="3547872"/>
            <a:ext cx="2953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public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114800"/>
            <a:ext cx="110916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85800" y="411480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Panacea (ChargeAssist)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3931920" y="41148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all-inclusive annual fee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641080" y="4114800"/>
            <a:ext cx="2953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Mid-market; lowest of the group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681728"/>
            <a:ext cx="11091672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E4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685800" y="468172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consulting review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3931920" y="4681728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engagement, every 2-3 yrs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641080" y="4681728"/>
            <a:ext cx="2953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$50K to $100K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248656"/>
            <a:ext cx="11091672" cy="566928"/>
          </a:xfrm>
          <a:prstGeom prst="rect">
            <a:avLst/>
          </a:prstGeom>
          <a:solidFill>
            <a:srgbClr val="DCF3EB"/>
          </a:solidFill>
          <a:ln w="6350">
            <a:solidFill>
              <a:srgbClr val="E4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685800" y="524865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ChargeGuard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3931920" y="5248656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Subscription, runs every quarter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641080" y="5248656"/>
            <a:ext cx="2953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Positioned well below enterprise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88310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*Derived from Craneware public FY2025 financials (ARR across ~40% of U.S. hospitals). Vendors quote custom, so all figures are directional estimates, not list prices.</a:t>
            </a:r>
            <a:endParaRPr lang="en-US" sz="900" dirty="0"/>
          </a:p>
        </p:txBody>
      </p:sp>
      <p:pic>
        <p:nvPicPr>
          <p:cNvPr id="36" name="Image 0" descr="/tmp/amelior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36208"/>
            <a:ext cx="502920" cy="466344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4572000" y="6419088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6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Amelior LLC. All rights reserved.</a:t>
            </a:r>
            <a:endParaRPr lang="en-US" sz="800" dirty="0"/>
          </a:p>
        </p:txBody>
      </p:sp>
      <p:sp>
        <p:nvSpPr>
          <p:cNvPr id="38" name="Text 35"/>
          <p:cNvSpPr txBox="1"/>
          <p:nvPr/>
        </p:nvSpPr>
        <p:spPr>
          <a:xfrm>
            <a:off x="11430000" y="64190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ChargeGuard does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" y="1728216"/>
            <a:ext cx="548640" cy="548640"/>
          </a:xfrm>
          <a:prstGeom prst="ellipse">
            <a:avLst/>
          </a:prstGeom>
          <a:solidFill>
            <a:srgbClr val="DCF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7282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5D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002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&amp; compliance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202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Retired codes, packaging, pass-through, modifiers, revenue-code errors, all tied to CMS rules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45352" y="141732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73952" y="1728216"/>
            <a:ext cx="548640" cy="548640"/>
          </a:xfrm>
          <a:prstGeom prst="ellipse">
            <a:avLst/>
          </a:prstGeom>
          <a:solidFill>
            <a:srgbClr val="DCF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473952" y="17282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5D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159752" y="16002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Pharmacy &amp; devices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159752" y="19202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NDC and unit mismatches, billing-unit errors, device-to-procedure crosswalks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78892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77240" y="3099816"/>
            <a:ext cx="548640" cy="548640"/>
          </a:xfrm>
          <a:prstGeom prst="ellipse">
            <a:avLst/>
          </a:prstGeom>
          <a:solidFill>
            <a:srgbClr val="DCF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77240" y="30998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5D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29718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&amp; peer benchmark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2918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Markup vs Medicare, plus your price vs competitors from public transparency files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45352" y="278892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73952" y="3099816"/>
            <a:ext cx="548640" cy="548640"/>
          </a:xfrm>
          <a:prstGeom prst="ellipse">
            <a:avLst/>
          </a:prstGeom>
          <a:solidFill>
            <a:srgbClr val="DCF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473952" y="30998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5D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159752" y="29718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&amp; transparency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159752" y="32918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837 charge-capture checks and the CMS shoppable-services requirements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34340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F5F5F5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777240" y="44805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check is tied to a dollar figure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489204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finding is ranked by severity and estimated financial impact, with the CMS rule or peer benchmark behind it, so a client can see exactly where money is being left on the table.</a:t>
            </a:r>
            <a:endParaRPr lang="en-US" sz="1250" dirty="0"/>
          </a:p>
        </p:txBody>
      </p:sp>
      <p:pic>
        <p:nvPicPr>
          <p:cNvPr id="26" name="Image 0" descr="/tmp/amelior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36208"/>
            <a:ext cx="502920" cy="466344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4572000" y="6419088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6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Amelior LLC. All rights reserved.</a:t>
            </a:r>
            <a:endParaRPr lang="en-US" sz="800" dirty="0"/>
          </a:p>
        </p:txBody>
      </p:sp>
      <p:sp>
        <p:nvSpPr>
          <p:cNvPr id="28" name="Text 25"/>
          <p:cNvSpPr txBox="1"/>
          <p:nvPr/>
        </p:nvSpPr>
        <p:spPr>
          <a:xfrm>
            <a:off x="11430000" y="64190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084832" cy="31089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80160" y="2029968"/>
            <a:ext cx="621792" cy="621792"/>
          </a:xfrm>
          <a:prstGeom prst="ellipse">
            <a:avLst/>
          </a:prstGeom>
          <a:solidFill>
            <a:srgbClr val="6050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280160" y="20299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8892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320040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facility profile and choose the peer hospitals to benchmark against.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61488" y="1737360"/>
            <a:ext cx="2084832" cy="31089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93008" y="2029968"/>
            <a:ext cx="621792" cy="621792"/>
          </a:xfrm>
          <a:prstGeom prst="ellipse">
            <a:avLst/>
          </a:prstGeom>
          <a:solidFill>
            <a:srgbClr val="45D3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493008" y="20299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852928" y="278892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320040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the CDM, revenue usage, formulary, claims (837), and peer price files.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974336" y="1737360"/>
            <a:ext cx="2084832" cy="31089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705856" y="2029968"/>
            <a:ext cx="621792" cy="621792"/>
          </a:xfrm>
          <a:prstGeom prst="ellipse">
            <a:avLst/>
          </a:prstGeom>
          <a:solidFill>
            <a:srgbClr val="6050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705856" y="20299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065776" y="278892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138928" y="320040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detected columns and code mappings before the scan runs.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187184" y="1737360"/>
            <a:ext cx="2084832" cy="31089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918704" y="2029968"/>
            <a:ext cx="621792" cy="621792"/>
          </a:xfrm>
          <a:prstGeom prst="ellipse">
            <a:avLst/>
          </a:prstGeom>
          <a:solidFill>
            <a:srgbClr val="45D3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7918704" y="20299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278624" y="278892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351776" y="320040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rules engine checks every line against current CMS reference data.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400032" y="1737360"/>
            <a:ext cx="2084832" cy="31089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0131552" y="2029968"/>
            <a:ext cx="621792" cy="621792"/>
          </a:xfrm>
          <a:prstGeom prst="ellipse">
            <a:avLst/>
          </a:prstGeom>
          <a:solidFill>
            <a:srgbClr val="6050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10131552" y="20299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9491472" y="278892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564624" y="320040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issues with dollar impact, peer benchmark, and an Excel export.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48640" y="512064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DCF3EB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548640" y="512064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Re-run every quarter. Each scan re-checks the CDM against the latest CMS rules and shows exactly what changed.</a:t>
            </a:r>
            <a:endParaRPr lang="en-US" sz="1250" dirty="0"/>
          </a:p>
        </p:txBody>
      </p:sp>
      <p:pic>
        <p:nvPicPr>
          <p:cNvPr id="34" name="Image 0" descr="/tmp/amelior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36208"/>
            <a:ext cx="502920" cy="466344"/>
          </a:xfrm>
          <a:prstGeom prst="rect">
            <a:avLst/>
          </a:prstGeom>
        </p:spPr>
      </p:pic>
      <p:sp>
        <p:nvSpPr>
          <p:cNvPr id="35" name="Text 32"/>
          <p:cNvSpPr txBox="1"/>
          <p:nvPr/>
        </p:nvSpPr>
        <p:spPr>
          <a:xfrm>
            <a:off x="4572000" y="6419088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6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Amelior LLC. All rights reserved.</a:t>
            </a:r>
            <a:endParaRPr lang="en-US" sz="800" dirty="0"/>
          </a:p>
        </p:txBody>
      </p:sp>
      <p:sp>
        <p:nvSpPr>
          <p:cNvPr id="36" name="Text 33"/>
          <p:cNvSpPr txBox="1"/>
          <p:nvPr/>
        </p:nvSpPr>
        <p:spPr>
          <a:xfrm>
            <a:off x="11430000" y="64190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615184" y="2926080"/>
            <a:ext cx="219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8E7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4828032" y="2926080"/>
            <a:ext cx="219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8E7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2926080"/>
            <a:ext cx="219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8E7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9253728" y="2926080"/>
            <a:ext cx="219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8E7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</a:t>
            </a:r>
            <a:endParaRPr lang="en-US" sz="2600" dirty="0"/>
          </a:p>
        </p:txBody>
      </p:sp>
      <p:pic>
        <p:nvPicPr>
          <p:cNvPr id="23" name="Image 0" descr="/tmp/amelior_f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236208"/>
            <a:ext cx="502920" cy="466344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4572000" y="6419088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6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Amelior LLC. All rights reserved.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11430000" y="64190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26" name="Rounded Rectangle 25"/>
          <p:cNvSpPr/>
          <p:nvPr/>
        </p:nvSpPr>
        <p:spPr>
          <a:xfrm>
            <a:off x="548640" y="1417320"/>
            <a:ext cx="3502152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E4EA"/>
            </a:solidFill>
          </a:ln>
          <a:effectLst>
            <a:outerShdw blurRad="60000" dist="25000" dir="5400000" rotWithShape="0">
              <a:srgbClr val="9A9AA5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04672" y="1673352"/>
            <a:ext cx="502920" cy="502920"/>
          </a:xfrm>
          <a:prstGeom prst="ellipse">
            <a:avLst/>
          </a:prstGeom>
          <a:solidFill>
            <a:srgbClr val="605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2" y="167335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19" y="1673352"/>
            <a:ext cx="249631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60507E"/>
                </a:solidFill>
                <a:latin typeface="Arial"/>
              </a:rPr>
              <a:t>A recurring, high-margin product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2468880"/>
            <a:ext cx="299008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4B4D4F"/>
                </a:solidFill>
                <a:latin typeface="Arial"/>
              </a:rPr>
              <a:t>Software with self-refreshing CMS data: low cost to serve, quarterly re-scans, and revenue that compounds client over client.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1959" y="1417320"/>
            <a:ext cx="3502152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E4EA"/>
            </a:solidFill>
          </a:ln>
          <a:effectLst>
            <a:outerShdw blurRad="60000" dist="25000" dir="5400000" rotWithShape="0">
              <a:srgbClr val="9A9AA5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507992" y="1673352"/>
            <a:ext cx="502920" cy="502920"/>
          </a:xfrm>
          <a:prstGeom prst="ellipse">
            <a:avLst/>
          </a:prstGeom>
          <a:solidFill>
            <a:srgbClr val="45D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07992" y="167335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1673352"/>
            <a:ext cx="249631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60507E"/>
                </a:solidFill>
                <a:latin typeface="Arial"/>
              </a:rPr>
              <a:t>Complements a hospital / revenue-cycle footprint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07992" y="2468880"/>
            <a:ext cx="299008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4B4D4F"/>
                </a:solidFill>
                <a:latin typeface="Arial"/>
              </a:rPr>
              <a:t>It slots alongside existing hospital or RCM relationships as a fast, affordable add-on, not a competing enterprise platform.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79" y="1417320"/>
            <a:ext cx="3502152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E4EA"/>
            </a:solidFill>
          </a:ln>
          <a:effectLst>
            <a:outerShdw blurRad="60000" dist="25000" dir="5400000" rotWithShape="0">
              <a:srgbClr val="9A9AA5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211311" y="1673352"/>
            <a:ext cx="502920" cy="502920"/>
          </a:xfrm>
          <a:prstGeom prst="ellipse">
            <a:avLst/>
          </a:prstGeom>
          <a:solidFill>
            <a:srgbClr val="605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11311" y="167335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23959" y="1673352"/>
            <a:ext cx="249631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60507E"/>
                </a:solidFill>
                <a:latin typeface="Arial"/>
              </a:rPr>
              <a:t>A ready channel play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1311" y="2468880"/>
            <a:ext cx="299008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4B4D4F"/>
                </a:solidFill>
                <a:latin typeface="Arial"/>
              </a:rPr>
              <a:t>Sell it as the engine behind consulting engagements, or direct to mid-market hospitals, then land-and-expand into monitoring and peer benchmarking.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493111" y="3611880"/>
            <a:ext cx="3502152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E4EA"/>
            </a:solidFill>
          </a:ln>
          <a:effectLst>
            <a:outerShdw blurRad="60000" dist="25000" dir="5400000" rotWithShape="0">
              <a:srgbClr val="9A9AA5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2749143" y="3867912"/>
            <a:ext cx="502920" cy="502920"/>
          </a:xfrm>
          <a:prstGeom prst="ellipse">
            <a:avLst/>
          </a:prstGeom>
          <a:solidFill>
            <a:srgbClr val="45D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749143" y="386791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61791" y="3867912"/>
            <a:ext cx="249631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60507E"/>
                </a:solidFill>
                <a:latin typeface="Arial"/>
              </a:rPr>
              <a:t>De-risked: built and validated today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9143" y="4663440"/>
            <a:ext cx="299008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4B4D4F"/>
                </a:solidFill>
                <a:latin typeface="Arial"/>
              </a:rPr>
              <a:t>A deployed tool that already reproduces an expert CDM review to the penny, so the concept is proven, not theoretical.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96431" y="3611880"/>
            <a:ext cx="3502152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E4EA"/>
            </a:solidFill>
          </a:ln>
          <a:effectLst>
            <a:outerShdw blurRad="60000" dist="25000" dir="5400000" rotWithShape="0">
              <a:srgbClr val="9A9AA5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6452463" y="3867912"/>
            <a:ext cx="502920" cy="502920"/>
          </a:xfrm>
          <a:prstGeom prst="ellipse">
            <a:avLst/>
          </a:prstGeom>
          <a:solidFill>
            <a:srgbClr val="605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52463" y="386791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65111" y="3867912"/>
            <a:ext cx="249631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60507E"/>
                </a:solidFill>
                <a:latin typeface="Arial"/>
              </a:rPr>
              <a:t>Stops denials at the source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52463" y="4663440"/>
            <a:ext cx="299008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4B4D4F"/>
                </a:solidFill>
                <a:latin typeface="Arial"/>
              </a:rPr>
              <a:t>Instead of just appealing denials after the fact, ChargeGuard prevents a whole class of them at the root: outdated codes, bad modifiers, and mispriced charge lines caught before the claim goes out.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1088</Words>
  <Application>Microsoft Office PowerPoint</Application>
  <PresentationFormat>Widescreen</PresentationFormat>
  <Paragraphs>152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kaylee rae</cp:lastModifiedBy>
  <cp:revision>11</cp:revision>
  <dcterms:created xsi:type="dcterms:W3CDTF">2026-08-27T19:44:31Z</dcterms:created>
  <dcterms:modified xsi:type="dcterms:W3CDTF">2026-08-28T14:23:50Z</dcterms:modified>
</cp:coreProperties>
</file>